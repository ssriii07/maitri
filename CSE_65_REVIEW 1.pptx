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75" r:id="rId5"/>
    <p:sldId id="279" r:id="rId6"/>
    <p:sldId id="277" r:id="rId7"/>
    <p:sldId id="273" r:id="rId8"/>
    <p:sldId id="271" r:id="rId9"/>
    <p:sldId id="270" r:id="rId10"/>
    <p:sldId id="265" r:id="rId11"/>
    <p:sldId id="280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70023E-4FDF-4AB8-F0A9-2B96AE27CD63}" v="237" dt="2026-01-13T16:11:17.894"/>
    <p1510:client id="{F937C22B-282E-7F9D-9A18-948A23DA59AD}" v="73" dt="2026-01-13T16:15:13.525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GB" sz="2400" dirty="0">
                <a:solidFill>
                  <a:schemeClr val="tx1"/>
                </a:solidFill>
                <a:latin typeface="Cambria"/>
                <a:ea typeface="Cambria"/>
              </a:rPr>
              <a:t>MAITRI: AN AI ASSISTANT FOR PSYCHOLOGICAL &amp; PHYSICAL WELL-BEING OF ASTRONAUTS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GB" sz="1800">
                <a:latin typeface="Cambria"/>
                <a:ea typeface="Cambria"/>
              </a:rPr>
              <a:t>Batch Number: CSE_</a:t>
            </a:r>
            <a:r>
              <a:rPr lang="en-US" altLang="en-GB" sz="1800">
                <a:latin typeface="Cambria"/>
                <a:ea typeface="Cambria"/>
              </a:rPr>
              <a:t>65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/>
              <a:ea typeface="Cambria"/>
            </a:endParaRPr>
          </a:p>
          <a:p>
            <a:pPr marL="0" indent="0" algn="ctr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algn="just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</a:t>
            </a:r>
            <a:r>
              <a:rPr lang="en-GB" sz="17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Balakrishnan Raju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Associate</a:t>
            </a:r>
            <a:r>
              <a:rPr lang="en-GB" sz="17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Professor </a:t>
            </a:r>
            <a:endParaRPr dirty="0"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/>
              <a:ea typeface="Cambria"/>
            </a:endParaRPr>
          </a:p>
          <a:p>
            <a:pPr marL="0" indent="0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20221CSE0484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K SAI SRI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20221CSE0446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MEGHANA K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</a:t>
            </a:r>
            <a:r>
              <a:rPr lang="en-US" altLang="en-GB" sz="18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302</a:t>
            </a:r>
            <a:r>
              <a:rPr lang="en-GB" sz="18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University</a:t>
            </a:r>
            <a:r>
              <a:rPr lang="en-GB" sz="1800" b="1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Project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spcBef>
                <a:spcPts val="310"/>
              </a:spcBef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cap="none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, Computer Science and Engineering</a:t>
            </a:r>
            <a:endParaRPr lang="en-US" sz="1800" b="1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Blessed Prince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cap="none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MUTHURAJU V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cap="none" dirty="0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cap="none" dirty="0">
              <a:solidFill>
                <a:schemeClr val="tx1"/>
              </a:solidFill>
              <a:latin typeface="Cambria"/>
              <a:ea typeface="Cambria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1037590"/>
            <a:ext cx="10668000" cy="486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/>
                <a:ea typeface="Cambria"/>
              </a:rPr>
              <a:t>Problem Statement</a:t>
            </a:r>
            <a:endParaRPr>
              <a:latin typeface="Cambria"/>
              <a:ea typeface="Cambria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>
                <a:latin typeface="Cambria"/>
                <a:ea typeface="Cambria"/>
              </a:rPr>
              <a:t>Problem Statement Number:</a:t>
            </a:r>
            <a:r>
              <a:rPr lang="en-US" dirty="0">
                <a:latin typeface="Cambria"/>
                <a:ea typeface="Cambria"/>
              </a:rPr>
              <a:t> SIH25175</a:t>
            </a:r>
            <a:endParaRPr lang="en-US" dirty="0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>
                <a:latin typeface="Cambria"/>
                <a:ea typeface="Cambria"/>
              </a:rPr>
              <a:t>Organization:</a:t>
            </a:r>
            <a:r>
              <a:rPr lang="en-US" dirty="0">
                <a:latin typeface="Cambria"/>
                <a:ea typeface="Cambria"/>
              </a:rPr>
              <a:t> Indian Space Research Organisation(ISRO)</a:t>
            </a:r>
            <a:endParaRPr lang="en-US" dirty="0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>
                <a:latin typeface="Cambria"/>
                <a:ea typeface="Cambria"/>
              </a:rPr>
              <a:t>Category: </a:t>
            </a:r>
            <a:r>
              <a:rPr lang="en-US" dirty="0">
                <a:latin typeface="Cambria"/>
                <a:ea typeface="Cambria"/>
              </a:rPr>
              <a:t>Software </a:t>
            </a:r>
            <a:endParaRPr lang="en-US" dirty="0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 dirty="0">
                <a:latin typeface="Cambria"/>
                <a:ea typeface="Cambria"/>
              </a:rPr>
              <a:t>Problem Description: </a:t>
            </a:r>
            <a:r>
              <a:rPr lang="en-US" dirty="0">
                <a:latin typeface="Cambria"/>
                <a:ea typeface="Cambria"/>
              </a:rPr>
              <a:t>MAITRI: An AI Assistant for Psychological &amp; Physical Well-Being of Astronauts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Cambria"/>
              </a:rPr>
              <a:t>Long-duration space missions expose astronauts to stress, isolation, and fatigue, while delayed communication with Earth limits continuous support, creating the need for an autonomous AI-based well-being assistance system.</a:t>
            </a: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50844"/>
            <a:ext cx="10668000" cy="4953000"/>
          </a:xfrm>
        </p:spPr>
        <p:txBody>
          <a:bodyPr>
            <a:normAutofit fontScale="8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US" dirty="0">
                <a:latin typeface="Cambria"/>
              </a:rPr>
              <a:t>To develop an AI-powered assistant that supports the psychological and physical well-being of astronauts during long-duration space missions.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>
                <a:latin typeface="Cambria"/>
              </a:rPr>
              <a:t>To provide a conversational interaction mechanism that allows astronauts to naturally express stress, fatigue, and daily experiences, and to analyze these interactions to detect emotional and stress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>
                <a:latin typeface="Cambria"/>
              </a:rPr>
              <a:t>To monitor overall well-being trends by integrating emotional indicators with simulated physical parameters such as sleep quality and fatigue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>
                <a:latin typeface="Cambria"/>
              </a:rPr>
              <a:t>To generate a well-being risk score and adaptive support strategies, including relaxation activities and routine guidance, for early identification and mitigation of mental or physical strain.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>
                <a:latin typeface="Cambria"/>
              </a:rPr>
              <a:t>To design and evaluate a privacy-aware, offline-capable web-based system, including a dashboard for visualizing well-being status, trends, and recommendations using simulated mission scenarios.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Background and Related work</a:t>
            </a:r>
            <a:endParaRPr lang="en-US" b="0">
              <a:solidFill>
                <a:srgbClr val="000000"/>
              </a:solidFill>
              <a:latin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86A12C3-60B3-9251-0539-65BEB22B1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75681"/>
              </p:ext>
            </p:extLst>
          </p:nvPr>
        </p:nvGraphicFramePr>
        <p:xfrm>
          <a:off x="433172" y="1033468"/>
          <a:ext cx="11422280" cy="5242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84456">
                  <a:extLst>
                    <a:ext uri="{9D8B030D-6E8A-4147-A177-3AD203B41FA5}">
                      <a16:colId xmlns:a16="http://schemas.microsoft.com/office/drawing/2014/main" val="1260094222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514856184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572512937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3216059350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4029354687"/>
                    </a:ext>
                  </a:extLst>
                </a:gridCol>
              </a:tblGrid>
              <a:tr h="292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720999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latin typeface="Cambria"/>
                        </a:rPr>
                        <a:t>Annahita</a:t>
                      </a:r>
                      <a:r>
                        <a:rPr lang="en-US" dirty="0">
                          <a:latin typeface="Cambria"/>
                        </a:rPr>
                        <a:t> Nezami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Space Psychology: A Comprehensive Approach to the Future of Astronaut Well-Being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Review and analytical method based on existing research, theories, and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A combined approach of psychology and technology is essential for future space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180527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Sardar Ali Shah, Saba Karim, Ramesh Kumar, Amir Latif Bhatti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Beyond the Gravity: Exploring Legal Position of Astronauts’ Well-Being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Doctrinal research method analyzing space laws, international treaties, and regulations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Existing space laws need improvement to better protect astronauts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660807"/>
                  </a:ext>
                </a:extLst>
              </a:tr>
              <a:tr h="1112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Ivan A. Rozanov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Psychological Support for Astronauts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Use of Virtual Reality (VR); data collected through observations, questionnaires, and sleep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Psychological support methods can be extended to hospitals and general medical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0179765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Francesco Pagnini, Francesca Grosso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Human Space Exploration: Benefits to Humanity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Analysis of existing research studies and space psychology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Astronauts experience stress and mental health challenges during long-duration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922346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Yi Wang, Delong Dong, </a:t>
                      </a:r>
                      <a:r>
                        <a:rPr lang="en-US" err="1">
                          <a:latin typeface="Cambria"/>
                        </a:rPr>
                        <a:t>Wenlian</a:t>
                      </a:r>
                      <a:r>
                        <a:rPr lang="en-US" dirty="0">
                          <a:latin typeface="Cambria"/>
                        </a:rPr>
                        <a:t> Zhou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Wearable Health Monitoring for Astronauts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Study of current wearable technologies and flexible wearable device applications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Cambria"/>
                        </a:rPr>
                        <a:t>Wearable devices enhance astronaut safety, though technical challenges still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66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Background and Related work(contd...)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5A754D-8956-24BC-1335-1D6D0F311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224828"/>
              </p:ext>
            </p:extLst>
          </p:nvPr>
        </p:nvGraphicFramePr>
        <p:xfrm>
          <a:off x="298173" y="993913"/>
          <a:ext cx="11595630" cy="54559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19126">
                  <a:extLst>
                    <a:ext uri="{9D8B030D-6E8A-4147-A177-3AD203B41FA5}">
                      <a16:colId xmlns:a16="http://schemas.microsoft.com/office/drawing/2014/main" val="1857175084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317067867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1464900173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3179807552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1067468214"/>
                    </a:ext>
                  </a:extLst>
                </a:gridCol>
              </a:tblGrid>
              <a:tr h="299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093857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Nathan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Technology to Support Mental Health in Deep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Analysis of digital health technologies combined with psychological and human-factor theories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Digital tools such as VR, AI assistants, monitoring systems, and automated support can effectively aid astronaut mental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413272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Antonia Russo, Gianluca Lax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Using Artificial Intelligence for Space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Application of Machine Learning, Deep Learning, Reinforcement Learning, and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Provides strong justification for systems like MAITRI that integrate mental health monitoring with decision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892178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Mario A. </a:t>
                      </a:r>
                      <a:r>
                        <a:rPr lang="en-US" err="1">
                          <a:latin typeface="Cambria"/>
                        </a:rPr>
                        <a:t>Cypko</a:t>
                      </a:r>
                      <a:r>
                        <a:rPr lang="en-US" dirty="0">
                          <a:latin typeface="Cambria"/>
                        </a:rPr>
                        <a:t>, Ulrich Straube, Russell J. Andrews, Oliver </a:t>
                      </a:r>
                      <a:r>
                        <a:rPr lang="en-US" err="1">
                          <a:latin typeface="Cambria"/>
                        </a:rPr>
                        <a:t>Amft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Digital Health for Space: Towards Prevention, Training, Empowerment, and Autonomy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Evaluation across space mission scenarios (ISS, Moon, Mars, deep space)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Long-duration space missions require autonomous digital health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310583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Brenda K. Wiederhold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From Cyberspace to Outer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Discussion of existing and emerging digital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Astronauts face significant mental health challenges due to isolation, stress, and extended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665869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Donald D. Chang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Promoting Tech Transfer Between Space and Global Mental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Space medicine research using a systematic review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/>
                        </a:rPr>
                        <a:t>AI, mobile apps, sensors, telemedicine, and chatbots can effectively support mental health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8776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95966" y="1143000"/>
            <a:ext cx="11555894" cy="47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dirty="0">
                <a:latin typeface="Cambria"/>
              </a:rPr>
              <a:t>Astronauts who stay in space for a long time face mental and physical challenges due to isolation, confinement, and heavy work pressure.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dirty="0">
                <a:latin typeface="Cambria"/>
              </a:rPr>
              <a:t>Problems such as stress, tiredness, poor sleep, and reduced concentration usually develop slowly and are hard to notice in the early stages.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dirty="0">
                <a:latin typeface="Cambria"/>
              </a:rPr>
              <a:t>At present, astronauts mainly depend on scheduled communication with Earth and basic health monitoring for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dirty="0">
                <a:latin typeface="Cambria"/>
              </a:rPr>
              <a:t>In deep space missions, communication delays make it difficult to receive continuous psychological support from Earth.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dirty="0">
                <a:latin typeface="Cambria"/>
              </a:rPr>
              <a:t>Existing systems focus mostly on physical health or mission tasks and do not provide continuous emotional or mental well-being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dirty="0">
                <a:latin typeface="Cambria"/>
              </a:rPr>
              <a:t>Hence, there is a need for an AI-based system that can continuously monitor well-being, identify early warning signs, and provide supportive guidance during long-duration space missions.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>
                <a:latin typeface="Cambria"/>
                <a:ea typeface="Cambria"/>
              </a:rPr>
              <a:t>Innovation or Novel Contributions</a:t>
            </a:r>
            <a:endParaRPr lang="en-US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 dirty="0">
                <a:latin typeface="Cambria"/>
              </a:rPr>
              <a:t>Our system is unique because it:</a:t>
            </a:r>
          </a:p>
          <a:p>
            <a:pPr marL="285750" indent="-285750" algn="just"/>
            <a:r>
              <a:rPr lang="en-US" dirty="0">
                <a:latin typeface="Cambria"/>
              </a:rPr>
              <a:t>Brings psychological and physical well-being support into one platform – conversation, stress understanding, risk monitoring, and guidance are all combined in a single system.</a:t>
            </a:r>
          </a:p>
          <a:p>
            <a:pPr marL="285750" indent="-285750" algn="just"/>
            <a:r>
              <a:rPr lang="en-US" dirty="0">
                <a:latin typeface="Cambria"/>
              </a:rPr>
              <a:t>Allows astronauts to express their feelings naturally – through a simple chat interface without pressure or judgement.</a:t>
            </a:r>
          </a:p>
          <a:p>
            <a:pPr marL="285750" indent="-285750" algn="just"/>
            <a:r>
              <a:rPr lang="en-US" dirty="0">
                <a:latin typeface="Cambria"/>
              </a:rPr>
              <a:t>Understands stress and emotional patterns over time – instead of reacting to a single message, it tracks changes across days.</a:t>
            </a:r>
          </a:p>
          <a:p>
            <a:pPr marL="285750" indent="-285750" algn="just"/>
            <a:r>
              <a:rPr lang="en-US" dirty="0">
                <a:latin typeface="Cambria"/>
              </a:rPr>
              <a:t>Provides personalized and adaptive support – suggestions and responses change based on the astronaut’s condition and past interactions.</a:t>
            </a:r>
          </a:p>
          <a:p>
            <a:pPr marL="285750" indent="-285750" algn="just"/>
            <a:r>
              <a:rPr lang="en-US" dirty="0">
                <a:latin typeface="Cambria"/>
              </a:rPr>
              <a:t>Identifies early warning signs – a well-being risk score helps detect mental or physical strain before it becomes serious.</a:t>
            </a:r>
          </a:p>
          <a:p>
            <a:pPr marL="285750" indent="-285750" algn="just"/>
            <a:r>
              <a:rPr lang="en-US" dirty="0">
                <a:latin typeface="Cambria"/>
              </a:rPr>
              <a:t>Works in low-connectivity or offline environments – ensuring continuous support even when communication with Earth is delayed.</a:t>
            </a:r>
          </a:p>
          <a:p>
            <a:pPr marL="285750" indent="-285750" algn="just"/>
            <a:r>
              <a:rPr lang="en-US" dirty="0">
                <a:latin typeface="Cambria"/>
              </a:rPr>
              <a:t>Respects privacy and ethical boundaries – offers support without medical diagnosis or sharing personal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output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65" y="1188720"/>
            <a:ext cx="995807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 sz="1800">
                <a:latin typeface="Cambria"/>
              </a:rPr>
              <a:t>[1] D. D. Chang, E. A. Storch, L. Black, M. Berk, N. Pellis, H. Lavretsky, J. Sutton, K. Ternes, M. Shepanek, E. Smith, R. Abbott, and H. A. Eyre, “Promoting tech transfer between space and global mental health,” Aerospace Medicine and Human Performance, vol. 91, no. 9, pp. 737–745, Sep.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[2] S. L. Chandra, P. R. Nair, and R. Kumar, “Artificial intelligence–based mental health support systems: A review,” arXiv preprint arXiv:2105.03216, May 2021.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[3] J. R. Clément and R. S. Ngo-Anh, “Keeping astronauts healthy during long-duration space missions,” Acta Astronautica, vol. 126, pp. 168–176, Sep.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[4] M. A. Cypko, U. Straube, R. J. Andrews, and O. Amft, “Digital health for space: Towards prevention, training, empowerment, and autonomy,” in Advancing Human-Computer Interaction for Space Exploration (SpaceCHI),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[5] L. A. De La Torre, A. L. Jennings, and R. J. Harvey, “Psychological challenges of long-duration spaceflight,” Journal of Applied Physiology, vol. 120, no. 7, pp. 1–9,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[6] European Space Agency (ESA), “Behavioral health and performance research for long-duration space missions,” ESA Human and Robotic Exploration Directorate,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[7] M. A. R. Finlayson, K. McNeal, and L. A. D’Mello, “Emotional detection and monitoring using conversational agents,” IEEE Transactions on Affective Computing, vol. 11, no. 2, pp. 1–14,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[8] F. Pagnini and F. Grosso, “Human space exploration: Benefits to humanity,”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[9] I. A. Rozanov, “Psychological support for astronauts in space,”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[10] K. Sandal, G. R. Leon, and S. Palinkas, “Human challenges in polar and space environments,” Reviews in Environmental Science and Bio/Technology, vol. 5, no. 2–3, pp. 281–296, 2006.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/>
                <a:ea typeface="Cambria"/>
              </a:rPr>
              <a:t>References (IEEE Paper format)(contd...)</a:t>
            </a:r>
            <a:endParaRPr lang="en-US" b="0" dirty="0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[11] T. B. Sheridan, “Human–AI interaction and trust in autonomous systems,” Human Factors, vol. 63, no. 5, pp. 1–12, 2021.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[12] N. Smith, “Technology to support mental health in deep space,” 2023.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[13] B. K. Wiederhold, “From cyberspace to outer space,” Cyberpsychology, Behavior, and Social Networking,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[14] Y. Wang, D. Dong, and W. Zhou, “Wearable health monitoring for astronauts,”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[15] G. G. De la Torre, “Behavioral health research in space analog,”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[16] N. J. Kanas, V. Salnitskiy, E. Grund, et al., “Interpersonal and cultural issues involving crews and ground personnel during International Space Station missions,” Aviation, Space, and Environmental Medicine, vol. 80, no. 7, pp. 647–655, Jul. 2009.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[17] A. A. Kanas and D. Manzey, Space Psychology and Psychiatry, 2nd ed., Springer, Dordrecht, 2008.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[18] A. Nezami, “Space psychology: A comprehensive approach to the future of astronaut wellbeing,” Frontiers in Virtual Reality, Jan.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[19] S. A. Shah, S. Karim, R. Kumar, and A. L. Bhatti, “Beyond the gravity: Exploring legal position of astronauts’ well-being in space,”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[20] S. Hussain, Z. Wang, and S. Rahim, “Ethical and privacy challenges in AI-driven health support systems,” arXiv preprint arXiv:2303.04127, Mar.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9630</Words>
  <Application>Microsoft Office PowerPoint</Application>
  <PresentationFormat>Widescreen</PresentationFormat>
  <Paragraphs>357</Paragraphs>
  <Slides>12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Bioinformatics</vt:lpstr>
      <vt:lpstr>MAITRI: AN AI ASSISTANT FOR PSYCHOLOGICAL &amp; PHYSICAL WELL-BEING OF ASTRONAUTS</vt:lpstr>
      <vt:lpstr>Content</vt:lpstr>
      <vt:lpstr>Problem Statement</vt:lpstr>
      <vt:lpstr>Objectives</vt:lpstr>
      <vt:lpstr>Background and Related work</vt:lpstr>
      <vt:lpstr>Background and Related work(contd...)</vt:lpstr>
      <vt:lpstr>Analysis of Problem Statement</vt:lpstr>
      <vt:lpstr>Innovation or Novel Contributions</vt:lpstr>
      <vt:lpstr>Timeline of the Project (Gantt Chart)</vt:lpstr>
      <vt:lpstr>References (IEEE Paper format)</vt:lpstr>
      <vt:lpstr>References (IEEE Paper format)(contd...)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srikorrapati</cp:lastModifiedBy>
  <cp:revision>401</cp:revision>
  <dcterms:created xsi:type="dcterms:W3CDTF">2026-01-13T16:04:06Z</dcterms:created>
  <dcterms:modified xsi:type="dcterms:W3CDTF">2026-01-13T16:15:50Z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1033-5.2.1.7924</vt:lpwstr>
  </property>
</Properties>
</file>