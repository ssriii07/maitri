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9" r:id="rId4"/>
    <p:sldId id="281" r:id="rId5"/>
    <p:sldId id="279" r:id="rId6"/>
    <p:sldId id="277" r:id="rId7"/>
    <p:sldId id="275" r:id="rId8"/>
    <p:sldId id="282" r:id="rId9"/>
    <p:sldId id="287" r:id="rId10"/>
    <p:sldId id="283" r:id="rId11"/>
    <p:sldId id="295" r:id="rId12"/>
    <p:sldId id="294" r:id="rId13"/>
    <p:sldId id="293" r:id="rId14"/>
    <p:sldId id="284" r:id="rId15"/>
    <p:sldId id="285" r:id="rId16"/>
    <p:sldId id="290" r:id="rId17"/>
    <p:sldId id="286" r:id="rId18"/>
    <p:sldId id="288" r:id="rId19"/>
    <p:sldId id="289" r:id="rId20"/>
    <p:sldId id="310" r:id="rId21"/>
    <p:sldId id="311" r:id="rId22"/>
    <p:sldId id="312" r:id="rId23"/>
    <p:sldId id="273" r:id="rId24"/>
    <p:sldId id="271" r:id="rId25"/>
    <p:sldId id="270" r:id="rId26"/>
    <p:sldId id="265" r:id="rId27"/>
    <p:sldId id="280" r:id="rId28"/>
    <p:sldId id="266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FBACB-C935-6BAE-36A2-B501AB17CB8C}" v="15" dt="2026-03-07T00:45:17.967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GB" sz="2400">
                <a:solidFill>
                  <a:schemeClr val="tx1"/>
                </a:solidFill>
                <a:latin typeface="Cambria"/>
                <a:ea typeface="Cambria"/>
              </a:rPr>
              <a:t>MAITRI: AN AI ASSISTANT FOR PSYCHOLOGICAL &amp; PHYSICAL WELL-BEING OF ASTRONAUTS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 sz="1800">
                <a:latin typeface="Cambria"/>
                <a:ea typeface="Cambria"/>
              </a:rPr>
              <a:t>Batch Number: CSE_</a:t>
            </a:r>
            <a:r>
              <a:rPr lang="en-US" altLang="en-GB" sz="1800">
                <a:latin typeface="Cambria"/>
                <a:ea typeface="Cambria"/>
              </a:rPr>
              <a:t>65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Under the Supervision of,</a:t>
            </a:r>
            <a:endParaRPr sz="1800">
              <a:latin typeface="Cambria"/>
              <a:ea typeface="Cambria"/>
            </a:endParaRPr>
          </a:p>
          <a:p>
            <a:pPr marL="0" indent="0" algn="ctr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algn="just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</a:t>
            </a: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Balakrishnan Raju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Associate</a:t>
            </a: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Professor 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Presidency University</a:t>
            </a:r>
            <a:endParaRPr>
              <a:latin typeface="Cambria"/>
              <a:ea typeface="Cambria"/>
            </a:endParaRPr>
          </a:p>
          <a:p>
            <a:pPr marL="0" indent="0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/>
                        <a:t>20221CSE0484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 SAI SRI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20221CSE0446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MEGHANA K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CSE7</a:t>
            </a:r>
            <a:r>
              <a:rPr lang="en-US" alt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302</a:t>
            </a: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University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Project</a:t>
            </a:r>
            <a:endParaRPr sz="1800" dirty="0">
              <a:latin typeface="Cambria"/>
              <a:ea typeface="Cambria"/>
            </a:endParaRPr>
          </a:p>
          <a:p>
            <a:pPr marL="0" indent="0" algn="ctr">
              <a:spcBef>
                <a:spcPts val="310"/>
              </a:spcBef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Review-</a:t>
            </a:r>
            <a:r>
              <a:rPr lang="en-US" alt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3</a:t>
            </a:r>
            <a:endParaRPr lang="en-US" altLang="en-GB" sz="1800" b="1" cap="none" dirty="0">
              <a:solidFill>
                <a:srgbClr val="17365D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, Computer Science and Engineering</a:t>
            </a:r>
            <a:endParaRPr lang="en-US" sz="1800" b="1" cap="none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Blessed Prince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MUTHURAJU V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cap="none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cap="none">
              <a:solidFill>
                <a:schemeClr val="tx1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893817"/>
            <a:ext cx="10668000" cy="557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Hardware and Software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Innovation or Novel Contributions</a:t>
            </a:r>
            <a:endParaRPr lang="en-US" sz="3200" dirty="0">
              <a:latin typeface="Cambria"/>
              <a:ea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/>
                <a:ea typeface="Cambria"/>
              </a:rPr>
              <a:t>Problem Statement</a:t>
            </a:r>
            <a:endParaRPr>
              <a:latin typeface="Cambria"/>
              <a:ea typeface="Cambria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Statement Number:</a:t>
            </a:r>
            <a:r>
              <a:rPr lang="en-US">
                <a:latin typeface="Cambria"/>
                <a:ea typeface="Cambria"/>
              </a:rPr>
              <a:t> SIH25175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Organization:</a:t>
            </a:r>
            <a:r>
              <a:rPr lang="en-US">
                <a:latin typeface="Cambria"/>
                <a:ea typeface="Cambria"/>
              </a:rPr>
              <a:t> Indian Space Research Organisation(ISRO)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Category: </a:t>
            </a:r>
            <a:r>
              <a:rPr lang="en-US">
                <a:latin typeface="Cambria"/>
                <a:ea typeface="Cambria"/>
              </a:rPr>
              <a:t>Software 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Description: </a:t>
            </a:r>
            <a:r>
              <a:rPr lang="en-US">
                <a:latin typeface="Cambria"/>
                <a:ea typeface="Cambria"/>
              </a:rPr>
              <a:t>MAITRI: An AI Assistant for Psychological &amp; Physical Well-Being of Astronauts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>
                <a:latin typeface="Cambria"/>
              </a:rPr>
              <a:t>Long-duration space missions expose astronauts to stress, isolation, and fatigue, while delayed communication with Earth limits continuous support, creating the need for an autonomous AI-based well-being assistance system.</a:t>
            </a: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384" y="1072871"/>
            <a:ext cx="1093536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dirty="0">
                <a:latin typeface="Cambria"/>
              </a:rPr>
              <a:t>Mental well-being is a critical challenge for individuals working in isolated, high-stress environments such as space missions. Prolonged confinement, limited social interaction, and communication delays can lead to psychological strain, making continuous emotional support essential.</a:t>
            </a:r>
            <a:br>
              <a:rPr lang="en-US" sz="2000" dirty="0">
                <a:latin typeface="Cambria"/>
              </a:rPr>
            </a:br>
            <a:r>
              <a:rPr lang="en-US" sz="2000" dirty="0">
                <a:latin typeface="Cambria"/>
              </a:rPr>
              <a:t>This project, </a:t>
            </a:r>
            <a:r>
              <a:rPr lang="en-US" sz="2000" b="1" dirty="0">
                <a:latin typeface="Cambria"/>
              </a:rPr>
              <a:t>MAITRI</a:t>
            </a:r>
            <a:r>
              <a:rPr lang="en-US" sz="2000" dirty="0">
                <a:latin typeface="Cambria"/>
              </a:rPr>
              <a:t>, aims to provide an intelligent mental-health companion capable of understanding a user's emotional state and offering timely, personalized support.</a:t>
            </a:r>
          </a:p>
          <a:p>
            <a:r>
              <a:rPr lang="en-US" sz="2000" dirty="0">
                <a:latin typeface="Cambria"/>
              </a:rPr>
              <a:t>MAITRI uses a combination of </a:t>
            </a:r>
            <a:r>
              <a:rPr lang="en-US" sz="2000" b="1" dirty="0">
                <a:latin typeface="Cambria"/>
              </a:rPr>
              <a:t>Natural Language Processing (NLP)</a:t>
            </a:r>
            <a:r>
              <a:rPr lang="en-US" sz="2000" dirty="0">
                <a:latin typeface="Cambria"/>
              </a:rPr>
              <a:t> and </a:t>
            </a:r>
            <a:r>
              <a:rPr lang="en-US" sz="2000" b="1" dirty="0">
                <a:latin typeface="Cambria"/>
              </a:rPr>
              <a:t>rule-based analysis</a:t>
            </a:r>
            <a:r>
              <a:rPr lang="en-US" sz="2000" dirty="0">
                <a:latin typeface="Cambria"/>
              </a:rPr>
              <a:t> to interpret user inputs, detect emotions, assess stress levels, and provide suitable recommendations. The system architecture includes a </a:t>
            </a:r>
            <a:r>
              <a:rPr lang="en-US" sz="2000" b="1" dirty="0">
                <a:latin typeface="Cambria"/>
              </a:rPr>
              <a:t>React-based frontend</a:t>
            </a:r>
            <a:r>
              <a:rPr lang="en-US" sz="2000" dirty="0">
                <a:latin typeface="Cambria"/>
              </a:rPr>
              <a:t> for seamless interaction, a </a:t>
            </a:r>
            <a:r>
              <a:rPr lang="en-US" sz="2000" b="1" err="1">
                <a:latin typeface="Cambria"/>
              </a:rPr>
              <a:t>FastAPI</a:t>
            </a:r>
            <a:r>
              <a:rPr lang="en-US" sz="2000" b="1" dirty="0">
                <a:latin typeface="Cambria"/>
              </a:rPr>
              <a:t> backend</a:t>
            </a:r>
            <a:r>
              <a:rPr lang="en-US" sz="2000" dirty="0">
                <a:latin typeface="Cambria"/>
              </a:rPr>
              <a:t> for processing user queries, an </a:t>
            </a:r>
            <a:r>
              <a:rPr lang="en-US" sz="2000" b="1" dirty="0">
                <a:latin typeface="Cambria"/>
              </a:rPr>
              <a:t>NLP engine</a:t>
            </a:r>
            <a:r>
              <a:rPr lang="en-US" sz="2000" dirty="0">
                <a:latin typeface="Cambria"/>
              </a:rPr>
              <a:t> for sentiment and emotion analysis, and an optional </a:t>
            </a:r>
            <a:r>
              <a:rPr lang="en-US" sz="2000" b="1" dirty="0">
                <a:latin typeface="Cambria"/>
              </a:rPr>
              <a:t>database layer</a:t>
            </a:r>
            <a:r>
              <a:rPr lang="en-US" sz="2000" dirty="0">
                <a:latin typeface="Cambria"/>
              </a:rPr>
              <a:t> for storing conversation history and emotional patterns.</a:t>
            </a:r>
          </a:p>
          <a:p>
            <a:r>
              <a:rPr lang="en-US" sz="2000" dirty="0">
                <a:latin typeface="Cambria"/>
              </a:rPr>
              <a:t>By offering a simple, accessible, and always-available support system, MAITRI enhances physiological and physical well-being, improves self-awareness, and contributes to healthier decision-making. The solution is lightweight, feasible to implement, and scalable for use in both everyday scenarios and mission-critical environments like space travel.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</a:t>
            </a:r>
            <a:endParaRPr lang="en-US" b="0">
              <a:solidFill>
                <a:srgbClr val="000000"/>
              </a:solidFill>
              <a:latin typeface="Cambri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3172" y="1033468"/>
          <a:ext cx="11422280" cy="5242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Cambria"/>
                        </a:rPr>
                        <a:t>Annahita</a:t>
                      </a:r>
                      <a:r>
                        <a:rPr lang="en-US">
                          <a:latin typeface="Cambria"/>
                        </a:rPr>
                        <a:t> Nezami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Space Psychology: A Comprehensive Approach to the Future of Astronaut Well-Being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Review and analytical method based on existing research, theories, and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 combined approach of psychology and technology is essential for future space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Sardar Ali Shah, Saba Karim, Ramesh Kumar, Amir Latif Bhatti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Beyond the Gravity: Exploring Legal Position of Astronauts’ Well-Being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Doctrinal research method analyzing space laws, international treaties, and regulations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Existing space laws need improvement to better protect astronauts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Ivan A. Rozanov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for Astronauts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Use of Virtual Reality (VR); data collected through observations, questionnaires, and sleep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methods can be extended to hospitals and general medical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Francesco Pagnini, Francesca Grosso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Human Space Exploration: Benefits to Humanity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Analysis of existing research studies and space psychology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Astronauts experience stress and mental health challenges during long-duration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Yi Wang, Delong Dong, </a:t>
                      </a:r>
                      <a:r>
                        <a:rPr lang="en-US" err="1">
                          <a:latin typeface="Cambria"/>
                        </a:rPr>
                        <a:t>Wenlian</a:t>
                      </a:r>
                      <a:r>
                        <a:rPr lang="en-US">
                          <a:latin typeface="Cambria"/>
                        </a:rPr>
                        <a:t> Zhou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Health Monitoring for Astronauts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Study of current wearable technologies and flexible wearable device applications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devices enhance astronaut safety, though technical challenges still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work(contd...)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8173" y="993913"/>
          <a:ext cx="11595630" cy="54559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1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Nathan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Technology to Support Mental Health in Deep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Analysis of digital health technologies combined with psychological and human-factor theories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tools such as VR, AI assistants, monitoring systems, and automated support can effectively aid astronaut mental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Antonia Russo, Gianluca Lax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Using Artificial Intelligence for Space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Application of Machine Learning, Deep Learning, Reinforcement Learning,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Provides strong justification for systems like MAITRI that integrate mental health monitoring with decision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Mario A. </a:t>
                      </a:r>
                      <a:r>
                        <a:rPr lang="en-US" err="1">
                          <a:latin typeface="Cambria"/>
                        </a:rPr>
                        <a:t>Cypko</a:t>
                      </a:r>
                      <a:r>
                        <a:rPr lang="en-US">
                          <a:latin typeface="Cambria"/>
                        </a:rPr>
                        <a:t>, Ulrich Straube, Russell J. Andrews, Oliver </a:t>
                      </a:r>
                      <a:r>
                        <a:rPr lang="en-US" err="1">
                          <a:latin typeface="Cambria"/>
                        </a:rPr>
                        <a:t>Amft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Health for Space: Towards Prevention, Training, Empowerment, and Autonomy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Evaluation across space mission scenarios (ISS, Moon, Mars, deep space)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Long-duration space missions require autonomous digital health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Brenda K. Wiederhold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From Cyberspace to Outer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Discussion of existing and emerging digital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Astronauts face significant mental health challenges due to isolation, stress, and extended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Donald D. Chang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Promoting Tech Transfer Between Space and Global 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Space medicine research using a systematic review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AI, mobile apps, sensors, telemedicine, and chatbots can effectively support mental health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50844"/>
            <a:ext cx="10668000" cy="4953000"/>
          </a:xfrm>
        </p:spPr>
        <p:txBody>
          <a:bodyPr>
            <a:normAutofit fontScale="8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develop an AI-powered assistant that supports the psychological and physical well-being of astronauts during long-duration space missions.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provide a conversational interaction mechanism that allows astronauts to naturally express stress, fatigue, and daily experiences, and to analyze these interactions to detect emotional and stress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monitor overall well-being trends by integrating emotional indicators with simulated physical parameters such as sleep quality and fatigue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generate a well-being risk score and adaptive support strategies, including relaxation activities and routine guidance, for early identification and mitigation of mental or physical strain.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design and evaluate a privacy-aware, offline-capable web-based system, including a dashboard for visualizing well-being status, trends, and recommendations using simulated mission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789" y="1036052"/>
          <a:ext cx="11430295" cy="4983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01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Psychology: A Comprehensive Approach to the Future of Astronaut Well-Being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Annahita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Nezami (2025)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Review-based psychological and technological framework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ts val="1200"/>
                        </a:lnSpc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and technological approaches for supporting astronaut mental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Based entirely on existing literature; lacks experimental or system-level validation.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The approach is conceptual and does not propose a concrete implementation or autonomous support system.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Beyond the Gravity: Exploring Legal Position of Astronauts’ Well-Being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Sardar Ali Shah (2024)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Doctrinal legal research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Analyzes international space laws, treaties, and regulations related to astronaut well-being.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Addresses legal aspects only, without psychological or technological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Provides policy insight but offers no practical solution for real-time mental health monitoring or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Psychological Support for Astronauts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Ivan A.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VR-based psychological support and monitoring system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Virtual Reality, questionnaires, and sleep monitoring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advanced hardware, continuous monitoring, resources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Scalability and feasibility are limited for long-duration.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Human Space Exploration: Benefits to Humanity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-Francesco Pagnini, Francesca Grosso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 analytical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challenges such as stress and mental strain during long-duration 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Mainly descriptive and analytical; lacks intervention or support mechanisms.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integrate digital or AI-based solutions for proactive mental health management.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Health Monitoring for Astronauts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Yi Wang, Delong Dong, Wenjian Zhou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sensor-based health monitoring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Studies wearable devices for continuous physiological monitoring of astronauts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primarily on physical health indicators.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assessment remains indirect and insufficient for comprehensive psychological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789" y="1163052"/>
          <a:ext cx="11430295" cy="48397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4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Technologies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Smith (2023)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mental health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VR and AI tools to support astronaut mental health.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Depends on Earth-based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Limited autonomy in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4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Artificial Intelligence and Machine Learning in Space Systems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Russo &amp; Lax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 and ML-based intelligent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Applies machine learning, and NLP techniques for decision support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large datasets and extensive training.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Reliability and ethical concerns limit direct use in mental health decision-making.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Systems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Cypko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et al.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and self-management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on prevention, training, and autonomous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High system complexity and integration challenges.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Strong dependence on system accuracy poses risks in critical environments.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0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Emerging Digital Technologies for Mental Health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Wiederhold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and immersive technology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emerging digital and cyberspace technologies to address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Mostly theoretical with limited empirical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Lack of astronaut-centered validation reduces practical applicability.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50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Technology Transfer from Space to Earth for Mental Health Care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Chang (2020)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AI, telemedicine, and mobile health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Explores AI, sensors, telemedicine, mobile apps, and chatbots for mental health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Generalized solutions not tailored for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fully address isolation, latency, and autonomy constraints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/>
              </a:rPr>
              <a:t>PROPOSED METHOD</a:t>
            </a:r>
          </a:p>
          <a:p>
            <a:pPr>
              <a:buNone/>
            </a:pPr>
            <a:r>
              <a:rPr lang="en-US" b="1" dirty="0">
                <a:latin typeface="Cambria"/>
              </a:rPr>
              <a:t>1. User Interaction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User enters their emotional text/query through the React-based chat interface.</a:t>
            </a:r>
          </a:p>
          <a:p>
            <a:pPr marL="285750" indent="-285750"/>
            <a:r>
              <a:rPr lang="en-US" dirty="0">
                <a:latin typeface="Cambria"/>
              </a:rPr>
              <a:t>The interface sends the message to the backend using REST API.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2. NLP-Based Text Processing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 err="1">
                <a:latin typeface="Cambria"/>
              </a:rPr>
              <a:t>FastAPI</a:t>
            </a:r>
            <a:r>
              <a:rPr lang="en-US" dirty="0">
                <a:latin typeface="Cambria"/>
              </a:rPr>
              <a:t> backend receives the message.</a:t>
            </a:r>
          </a:p>
          <a:p>
            <a:pPr marL="285750" indent="-285750"/>
            <a:r>
              <a:rPr lang="en-US" dirty="0">
                <a:latin typeface="Cambria"/>
              </a:rPr>
              <a:t>Text is cleaned, tokenized, and processed using NLP techniques.</a:t>
            </a:r>
          </a:p>
          <a:p>
            <a:pPr marL="285750" indent="-285750"/>
            <a:r>
              <a:rPr lang="en-US" dirty="0">
                <a:latin typeface="Cambria"/>
              </a:rPr>
              <a:t>Sentiment and emotional tone (stress, sadness, anxiety) are identified.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3. Risk Assessment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analyzed sentiment score is passed into a rule-based engine.</a:t>
            </a:r>
          </a:p>
          <a:p>
            <a:pPr marL="285750" indent="-285750"/>
            <a:r>
              <a:rPr lang="en-US" dirty="0">
                <a:latin typeface="Cambria"/>
              </a:rPr>
              <a:t>The system categorizes the emotional intensity into:</a:t>
            </a:r>
          </a:p>
          <a:p>
            <a:pPr marL="1200150" lvl="1" indent="-285750"/>
            <a:r>
              <a:rPr lang="en-US" dirty="0">
                <a:latin typeface="Cambria"/>
              </a:rPr>
              <a:t>Low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Moderate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High risk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Cambria"/>
              </a:rPr>
              <a:t>4. Suggestion Generation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Based on emotional category, the Suggestion Engine provides:</a:t>
            </a:r>
          </a:p>
          <a:p>
            <a:pPr lvl="1"/>
            <a:r>
              <a:rPr lang="en-US" dirty="0">
                <a:latin typeface="Cambria"/>
              </a:rPr>
              <a:t>Coping strategies</a:t>
            </a:r>
          </a:p>
          <a:p>
            <a:pPr lvl="1"/>
            <a:r>
              <a:rPr lang="en-US" dirty="0">
                <a:latin typeface="Cambria"/>
              </a:rPr>
              <a:t>Relaxation/breathing techniques</a:t>
            </a:r>
          </a:p>
          <a:p>
            <a:pPr lvl="1"/>
            <a:r>
              <a:rPr lang="en-US" dirty="0">
                <a:latin typeface="Cambria"/>
              </a:rPr>
              <a:t>Positive reinforcement</a:t>
            </a:r>
          </a:p>
          <a:p>
            <a:pPr lvl="1"/>
            <a:r>
              <a:rPr lang="en-US" dirty="0">
                <a:latin typeface="Cambria"/>
              </a:rPr>
              <a:t>Emergency help message (if risk is high)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5. Response Delivery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backend sends the final structured response back to the React UI.</a:t>
            </a:r>
          </a:p>
          <a:p>
            <a:pPr marL="285750" indent="-285750"/>
            <a:r>
              <a:rPr lang="en-US" dirty="0">
                <a:latin typeface="Cambria"/>
              </a:rPr>
              <a:t>The user sees:</a:t>
            </a:r>
          </a:p>
          <a:p>
            <a:pPr lvl="1"/>
            <a:r>
              <a:rPr lang="en-US" dirty="0">
                <a:latin typeface="Cambria"/>
              </a:rPr>
              <a:t>System-generated support message</a:t>
            </a:r>
          </a:p>
          <a:p>
            <a:pPr lvl="1"/>
            <a:r>
              <a:rPr lang="en-US" dirty="0">
                <a:latin typeface="Cambria"/>
              </a:rPr>
              <a:t>Suggested activities/techniques</a:t>
            </a:r>
          </a:p>
          <a:p>
            <a:pPr lvl="1"/>
            <a:r>
              <a:rPr lang="en-US" dirty="0">
                <a:latin typeface="Cambria"/>
              </a:rPr>
              <a:t>Emotional insights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6. Optional Logging</a:t>
            </a:r>
            <a:endParaRPr lang="en-US" b="1" dirty="0">
              <a:latin typeface="Cambria"/>
            </a:endParaRPr>
          </a:p>
          <a:p>
            <a:pPr marL="342900" indent="-342900"/>
            <a:r>
              <a:rPr lang="en-US" dirty="0">
                <a:latin typeface="Cambria"/>
              </a:rPr>
              <a:t>Conversation history and sentiment scores may be stored in the SQLite database for future analysis.</a:t>
            </a:r>
          </a:p>
          <a:p>
            <a:pPr>
              <a:buNone/>
            </a:pPr>
            <a:endParaRPr lang="en-US" b="1" dirty="0">
              <a:latin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67674"/>
            <a:ext cx="10668000" cy="528721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200" b="1">
                <a:latin typeface="Cambria"/>
              </a:rPr>
              <a:t>FEASIBILITY STUDY</a:t>
            </a:r>
            <a:endParaRPr lang="en-US" sz="3200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1. Technical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Frontend</a:t>
            </a:r>
            <a:r>
              <a:rPr lang="en-US" sz="2200">
                <a:latin typeface="Cambria"/>
              </a:rPr>
              <a:t>: React + Tailwind - widely supported, easy to develop, fast.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Backend</a:t>
            </a:r>
            <a:r>
              <a:rPr lang="en-US" sz="2200">
                <a:latin typeface="Cambria"/>
              </a:rPr>
              <a:t>: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 - lightweight, high-performance Python framework.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NLP Models</a:t>
            </a:r>
            <a:r>
              <a:rPr lang="en-US" sz="2200">
                <a:latin typeface="Cambria"/>
              </a:rPr>
              <a:t>: Uses simple sentiment analysis and rule-based logic - no heavy GPU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Database</a:t>
            </a:r>
            <a:r>
              <a:rPr lang="en-US" sz="2200">
                <a:latin typeface="Cambria"/>
              </a:rPr>
              <a:t>: SQLite - lightweight, file-based, easy to integrate.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Hosting</a:t>
            </a:r>
            <a:r>
              <a:rPr lang="en-US" sz="2200">
                <a:latin typeface="Cambria"/>
              </a:rPr>
              <a:t>: Can run on any cloud platform (Render, Railway, Azure).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 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All required tools are open-source and beginner-friendly, making technical implementation fully feasible.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2. Operational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Users can easily interact with the chatbot-style UI.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complicated onboarding or training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MAITRI provides instant emotional support, which improves the likelihood of regular usage.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The system is simple to use, making operational feasibility high.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3. Economic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Uses open-source tools (React,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, Python, Tailwind).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paid APIs or external services required for baseline functionality.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Hosting cost is minimal - can be deployed on free/low-cost cloud tiers.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Cost of development and maintenance is extremely low → economically feasible.</a:t>
            </a:r>
            <a:endParaRPr lang="en-US">
              <a:latin typeface="Cambria"/>
            </a:endParaRPr>
          </a:p>
          <a:p>
            <a:pPr>
              <a:buNone/>
            </a:pPr>
            <a:endParaRPr lang="en-US" sz="2200" b="1">
              <a:latin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200" b="1" dirty="0">
                <a:latin typeface="Cambria"/>
              </a:rPr>
              <a:t>4. Schedule Feasibility</a:t>
            </a:r>
            <a:endParaRPr lang="en-US" dirty="0">
              <a:latin typeface="Cambria"/>
            </a:endParaRPr>
          </a:p>
          <a:p>
            <a:pPr>
              <a:buNone/>
            </a:pPr>
            <a:r>
              <a:rPr lang="en-US" sz="2200" dirty="0">
                <a:latin typeface="Cambria"/>
              </a:rPr>
              <a:t>The project modules can be completed within the academic timeline:</a:t>
            </a:r>
            <a:endParaRPr lang="en-US" dirty="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r>
              <a:rPr lang="en-US" sz="2200" b="1" dirty="0">
                <a:latin typeface="Cambria"/>
              </a:rPr>
              <a:t>Conclusion:</a:t>
            </a:r>
            <a:r>
              <a:rPr lang="en-US" sz="2200" dirty="0">
                <a:latin typeface="Cambria"/>
              </a:rPr>
              <a:t> The project can be fully completed before final review.</a:t>
            </a:r>
          </a:p>
          <a:p>
            <a:pPr marL="76200" indent="0"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r>
              <a:rPr lang="en-US" b="1" dirty="0">
                <a:latin typeface="Cambria"/>
              </a:rPr>
              <a:t>5. Future Feasibility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sz="2200" dirty="0">
                <a:latin typeface="Cambria"/>
              </a:rPr>
              <a:t>Can scale with more features:</a:t>
            </a:r>
            <a:endParaRPr lang="en-US" dirty="0">
              <a:latin typeface="Cambria"/>
            </a:endParaRPr>
          </a:p>
          <a:p>
            <a:pPr lvl="1"/>
            <a:r>
              <a:rPr lang="en-US" sz="1800" dirty="0">
                <a:latin typeface="Cambria"/>
              </a:rPr>
              <a:t>Deep-learning based sentiment models</a:t>
            </a:r>
          </a:p>
          <a:p>
            <a:pPr lvl="1"/>
            <a:r>
              <a:rPr lang="en-US" sz="1800" dirty="0">
                <a:latin typeface="Cambria"/>
              </a:rPr>
              <a:t>Cloud deployment</a:t>
            </a:r>
          </a:p>
          <a:p>
            <a:pPr lvl="1"/>
            <a:r>
              <a:rPr lang="en-US" sz="1800" dirty="0">
                <a:latin typeface="Cambria"/>
              </a:rPr>
              <a:t>Voice input</a:t>
            </a:r>
          </a:p>
          <a:p>
            <a:pPr lvl="1"/>
            <a:r>
              <a:rPr lang="en-US" sz="1800" dirty="0">
                <a:latin typeface="Cambria"/>
              </a:rPr>
              <a:t>Personalized insights</a:t>
            </a:r>
          </a:p>
          <a:p>
            <a:pPr marL="0" indent="0">
              <a:buNone/>
            </a:pPr>
            <a:r>
              <a:rPr lang="en-US" sz="2200" b="1" dirty="0">
                <a:latin typeface="Cambria"/>
              </a:rPr>
              <a:t>Conclusion</a:t>
            </a:r>
            <a:r>
              <a:rPr lang="en-US" sz="2200" dirty="0">
                <a:latin typeface="Cambria"/>
              </a:rPr>
              <a:t>: High potential for future expansion.</a:t>
            </a:r>
            <a:endParaRPr lang="en-US" dirty="0">
              <a:latin typeface="Cambri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5154" y="1762392"/>
          <a:ext cx="816864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Frontend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NLP + 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Integration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Architecture Diagram</a:t>
            </a:r>
          </a:p>
        </p:txBody>
      </p:sp>
      <p:pic>
        <p:nvPicPr>
          <p:cNvPr id="5" name="Picture 4" descr="A diagram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245" y="0"/>
            <a:ext cx="551641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435" y="2231311"/>
            <a:ext cx="50714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600" b="1">
                <a:latin typeface="Cambria"/>
                <a:ea typeface="Cambria"/>
              </a:rPr>
              <a:t>MAITRI – System Architecture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>
                <a:latin typeface="Cambria"/>
              </a:rPr>
              <a:t>User Authentication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User Registration</a:t>
            </a:r>
          </a:p>
          <a:p>
            <a:pPr marL="285750" indent="-285750"/>
            <a:r>
              <a:rPr lang="en-US">
                <a:latin typeface="Cambria"/>
              </a:rPr>
              <a:t>User Login</a:t>
            </a:r>
          </a:p>
          <a:p>
            <a:pPr marL="285750" indent="-285750"/>
            <a:r>
              <a:rPr lang="en-US">
                <a:latin typeface="Cambria"/>
              </a:rPr>
              <a:t>Password reset</a:t>
            </a:r>
          </a:p>
          <a:p>
            <a:pPr marL="285750" indent="-285750"/>
            <a:r>
              <a:rPr lang="en-US">
                <a:latin typeface="Cambria"/>
              </a:rPr>
              <a:t>Secure token-based session handling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Mood Tracking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input (emoji/text)</a:t>
            </a:r>
          </a:p>
          <a:p>
            <a:pPr marL="285750" indent="-285750"/>
            <a:r>
              <a:rPr lang="en-US">
                <a:latin typeface="Cambria"/>
              </a:rPr>
              <a:t>Store mood history</a:t>
            </a:r>
          </a:p>
          <a:p>
            <a:pPr marL="285750" indent="-285750"/>
            <a:r>
              <a:rPr lang="en-US">
                <a:latin typeface="Cambria"/>
              </a:rPr>
              <a:t>View past trends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</a:t>
            </a:r>
            <a:endParaRPr lang="en-US">
              <a:latin typeface="Cambria"/>
            </a:endParaRP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  <p:sp>
        <p:nvSpPr>
          <p:cNvPr id="7" name="Text Placeholder 2"/>
          <p:cNvSpPr txBox="1"/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 AI Mental Health Assistant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Chat interface</a:t>
            </a:r>
          </a:p>
          <a:p>
            <a:pPr marL="285750" indent="-285750"/>
            <a:r>
              <a:rPr lang="en-US">
                <a:latin typeface="Cambria"/>
              </a:rPr>
              <a:t>AI-generated responses</a:t>
            </a:r>
          </a:p>
          <a:p>
            <a:pPr marL="285750" indent="-285750"/>
            <a:r>
              <a:rPr lang="en-US">
                <a:latin typeface="Cambria"/>
              </a:rPr>
              <a:t>Context-based conversation</a:t>
            </a:r>
          </a:p>
          <a:p>
            <a:pPr marL="285750" indent="-285750"/>
            <a:r>
              <a:rPr lang="en-US">
                <a:latin typeface="Cambria"/>
              </a:rPr>
              <a:t>Emotion-aware feedback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Journal &amp; Notes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Add personal journal entries</a:t>
            </a:r>
          </a:p>
          <a:p>
            <a:pPr marL="285750" indent="-285750"/>
            <a:r>
              <a:rPr lang="en-US">
                <a:latin typeface="Cambria"/>
              </a:rPr>
              <a:t>Edit / Delete entries</a:t>
            </a:r>
          </a:p>
          <a:p>
            <a:pPr marL="285750" indent="-285750"/>
            <a:r>
              <a:rPr lang="en-US">
                <a:latin typeface="Cambria"/>
              </a:rPr>
              <a:t>View journal history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  <a:ea typeface="Cambria"/>
              </a:rPr>
              <a:t>Crisis Support Module</a:t>
            </a:r>
            <a:endParaRPr lang="en-US">
              <a:latin typeface="Cambria"/>
              <a:ea typeface="Cambria"/>
            </a:endParaRPr>
          </a:p>
          <a:p>
            <a:pPr marL="285750" indent="-285750"/>
            <a:r>
              <a:rPr lang="en-US">
                <a:latin typeface="Cambria"/>
                <a:ea typeface="Cambria"/>
              </a:rPr>
              <a:t>SOS helplines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Emergency contact list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Quick-access support resources</a:t>
            </a:r>
          </a:p>
          <a:p>
            <a:pPr>
              <a:buNone/>
            </a:pPr>
            <a:endParaRPr lang="en-US" b="1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Personalized Recommendation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Mental wellness tips</a:t>
            </a:r>
          </a:p>
          <a:p>
            <a:pPr marL="285750" indent="-285750"/>
            <a:r>
              <a:rPr lang="en-US">
                <a:latin typeface="Cambria"/>
              </a:rPr>
              <a:t>Breathing exercises</a:t>
            </a:r>
          </a:p>
          <a:p>
            <a:pPr marL="285750" indent="-285750"/>
            <a:r>
              <a:rPr lang="en-US">
                <a:latin typeface="Cambria"/>
              </a:rPr>
              <a:t>Quotes / Affirmations</a:t>
            </a:r>
          </a:p>
          <a:p>
            <a:pPr marL="285750" indent="-285750"/>
            <a:r>
              <a:rPr lang="en-US">
                <a:latin typeface="Cambria"/>
              </a:rPr>
              <a:t>Recommendations based on mood patterns</a:t>
            </a:r>
          </a:p>
        </p:txBody>
      </p:sp>
      <p:sp>
        <p:nvSpPr>
          <p:cNvPr id="7" name="Text Placeholder 2"/>
          <p:cNvSpPr txBox="1"/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Notification &amp; Reminder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check-in reminder</a:t>
            </a:r>
          </a:p>
          <a:p>
            <a:pPr marL="285750" indent="-285750"/>
            <a:r>
              <a:rPr lang="en-US">
                <a:latin typeface="Cambria"/>
              </a:rPr>
              <a:t>Journaling reminder</a:t>
            </a:r>
          </a:p>
          <a:p>
            <a:pPr marL="285750" indent="-285750"/>
            <a:r>
              <a:rPr lang="en-US">
                <a:latin typeface="Cambria"/>
              </a:rPr>
              <a:t>Wellness practice reminder 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Admin Dashboard</a:t>
            </a:r>
          </a:p>
          <a:p>
            <a:pPr marL="285750" indent="-285750"/>
            <a:r>
              <a:rPr lang="en-US">
                <a:latin typeface="Cambria"/>
              </a:rPr>
              <a:t>View system usage</a:t>
            </a:r>
          </a:p>
          <a:p>
            <a:pPr marL="285750" indent="-285750"/>
            <a:r>
              <a:rPr lang="en-US">
                <a:latin typeface="Cambria"/>
              </a:rPr>
              <a:t>Manage user feedback</a:t>
            </a:r>
          </a:p>
          <a:p>
            <a:pPr marL="285750" indent="-285750"/>
            <a:r>
              <a:rPr lang="en-US">
                <a:latin typeface="Cambria"/>
              </a:rPr>
              <a:t>Basic analytics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>
                <a:latin typeface="Cambria"/>
              </a:rPr>
              <a:t>HARDWARE REQUIREMENTS</a:t>
            </a:r>
          </a:p>
          <a:p>
            <a:r>
              <a:rPr lang="en-US" sz="1800" b="1">
                <a:latin typeface="Cambria"/>
              </a:rPr>
              <a:t>Processor:</a:t>
            </a:r>
            <a:r>
              <a:rPr lang="en-US" sz="1800">
                <a:latin typeface="Cambria"/>
              </a:rPr>
              <a:t> Intel Core i5</a:t>
            </a:r>
          </a:p>
          <a:p>
            <a:r>
              <a:rPr lang="en-US" sz="1800" b="1">
                <a:latin typeface="Cambria"/>
              </a:rPr>
              <a:t>RAM:</a:t>
            </a:r>
            <a:r>
              <a:rPr lang="en-US" sz="1800">
                <a:latin typeface="Cambria"/>
              </a:rPr>
              <a:t> 8 GB </a:t>
            </a:r>
          </a:p>
          <a:p>
            <a:r>
              <a:rPr lang="en-US" sz="1800" b="1">
                <a:latin typeface="Cambria"/>
              </a:rPr>
              <a:t>Storage:</a:t>
            </a:r>
            <a:r>
              <a:rPr lang="en-US" sz="1800">
                <a:latin typeface="Cambria"/>
              </a:rPr>
              <a:t> 20–30 GB free space</a:t>
            </a:r>
          </a:p>
          <a:p>
            <a:r>
              <a:rPr lang="en-US" sz="1800" b="1">
                <a:latin typeface="Cambria"/>
              </a:rPr>
              <a:t>Operating System:</a:t>
            </a:r>
            <a:r>
              <a:rPr lang="en-US" sz="1800">
                <a:latin typeface="Cambria"/>
              </a:rPr>
              <a:t> Windows 10/11, macOS, or Ubuntu Linux</a:t>
            </a:r>
          </a:p>
          <a:p>
            <a:r>
              <a:rPr lang="en-US" sz="1800" b="1">
                <a:latin typeface="Cambria"/>
              </a:rPr>
              <a:t>Display:</a:t>
            </a:r>
            <a:r>
              <a:rPr lang="en-US" sz="1800">
                <a:latin typeface="Cambria"/>
              </a:rPr>
              <a:t> 1080p resolution</a:t>
            </a:r>
          </a:p>
          <a:p>
            <a:pPr marL="76200" indent="0">
              <a:buNone/>
            </a:pPr>
            <a:r>
              <a:rPr lang="en-US" b="1">
                <a:latin typeface="Cambria"/>
              </a:rPr>
              <a:t>SOFTWARE REQUIREMENTS</a:t>
            </a:r>
          </a:p>
          <a:p>
            <a:pPr marL="76200" indent="0">
              <a:buNone/>
            </a:pPr>
            <a:r>
              <a:rPr lang="en-US">
                <a:latin typeface="Cambria"/>
              </a:rPr>
              <a:t>Frontend Technologies</a:t>
            </a:r>
          </a:p>
          <a:p>
            <a:r>
              <a:rPr lang="en-US" sz="1800" b="1">
                <a:latin typeface="Cambria"/>
              </a:rPr>
              <a:t>React.js</a:t>
            </a:r>
            <a:r>
              <a:rPr lang="en-US" sz="1800">
                <a:latin typeface="Cambria"/>
              </a:rPr>
              <a:t> – User interface development</a:t>
            </a:r>
          </a:p>
          <a:p>
            <a:r>
              <a:rPr lang="en-US" sz="1800" b="1">
                <a:latin typeface="Cambria"/>
              </a:rPr>
              <a:t>Tailwind CSS / CSS</a:t>
            </a:r>
            <a:r>
              <a:rPr lang="en-US" sz="1800">
                <a:latin typeface="Cambria"/>
              </a:rPr>
              <a:t> – Styling</a:t>
            </a:r>
          </a:p>
          <a:p>
            <a:r>
              <a:rPr lang="en-US" sz="1800" b="1">
                <a:latin typeface="Cambria"/>
              </a:rPr>
              <a:t>JavaScript (ES6+)</a:t>
            </a:r>
          </a:p>
          <a:p>
            <a:r>
              <a:rPr lang="en-US" sz="1800" b="1" err="1">
                <a:latin typeface="Cambria"/>
              </a:rPr>
              <a:t>npm</a:t>
            </a:r>
            <a:r>
              <a:rPr lang="en-US" sz="1800" b="1">
                <a:latin typeface="Cambria"/>
              </a:rPr>
              <a:t> / Node.js</a:t>
            </a:r>
            <a:r>
              <a:rPr lang="en-US" sz="1800">
                <a:latin typeface="Cambria"/>
              </a:rPr>
              <a:t> – Dependency management</a:t>
            </a: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</a:rPr>
              <a:t>Backend Technologies</a:t>
            </a:r>
            <a:endParaRPr lang="en-US">
              <a:latin typeface="Cambria"/>
            </a:endParaRPr>
          </a:p>
          <a:p>
            <a:pPr marL="285750" indent="-285750"/>
            <a:r>
              <a:rPr lang="en-US" sz="1800" b="1">
                <a:latin typeface="Cambria"/>
              </a:rPr>
              <a:t>Python 3.10+</a:t>
            </a:r>
            <a:endParaRPr lang="en-US" sz="1800">
              <a:latin typeface="Cambria"/>
            </a:endParaRPr>
          </a:p>
          <a:p>
            <a:pPr marL="285750" indent="-285750"/>
            <a:r>
              <a:rPr lang="en-US" sz="1800" b="1" err="1">
                <a:latin typeface="Cambria"/>
              </a:rPr>
              <a:t>FastAPI</a:t>
            </a:r>
            <a:r>
              <a:rPr lang="en-US" sz="1800">
                <a:latin typeface="Cambria"/>
              </a:rPr>
              <a:t> – RESTful backend framework</a:t>
            </a:r>
          </a:p>
          <a:p>
            <a:pPr marL="285750" indent="-285750"/>
            <a:r>
              <a:rPr lang="en-US" sz="1800" b="1" err="1">
                <a:latin typeface="Cambria"/>
              </a:rPr>
              <a:t>Uvicorn</a:t>
            </a:r>
            <a:r>
              <a:rPr lang="en-US" sz="1800">
                <a:latin typeface="Cambria"/>
              </a:rPr>
              <a:t> – ASGI server</a:t>
            </a:r>
          </a:p>
          <a:p>
            <a:pPr marL="285750" indent="-285750"/>
            <a:r>
              <a:rPr lang="en-US" sz="1800" b="1" err="1">
                <a:latin typeface="Cambria"/>
              </a:rPr>
              <a:t>Pydantic</a:t>
            </a:r>
            <a:r>
              <a:rPr lang="en-US" sz="1800">
                <a:latin typeface="Cambria"/>
              </a:rPr>
              <a:t> – Request validation</a:t>
            </a:r>
          </a:p>
          <a:p>
            <a:pPr marL="285750" indent="-285750"/>
            <a:r>
              <a:rPr lang="en-US" sz="1800" b="1">
                <a:latin typeface="Cambria"/>
              </a:rPr>
              <a:t>Postman</a:t>
            </a:r>
            <a:r>
              <a:rPr lang="en-US" sz="1800">
                <a:latin typeface="Cambria"/>
              </a:rPr>
              <a:t> – API testing</a:t>
            </a:r>
          </a:p>
          <a:p>
            <a:pPr>
              <a:buNone/>
            </a:pPr>
            <a:r>
              <a:rPr lang="en-US" b="1">
                <a:latin typeface="Cambria"/>
              </a:rPr>
              <a:t>NLP &amp; AI Components</a:t>
            </a:r>
            <a:endParaRPr lang="en-US">
              <a:latin typeface="Cambria"/>
            </a:endParaRPr>
          </a:p>
          <a:p>
            <a:pPr marL="285750" indent="-285750"/>
            <a:r>
              <a:rPr lang="en-US" sz="1800" b="1" err="1">
                <a:latin typeface="Cambria"/>
              </a:rPr>
              <a:t>SpaCy</a:t>
            </a:r>
            <a:r>
              <a:rPr lang="en-US" sz="1800">
                <a:latin typeface="Cambria"/>
              </a:rPr>
              <a:t> – Text preprocessing</a:t>
            </a:r>
          </a:p>
          <a:p>
            <a:pPr marL="285750" indent="-285750"/>
            <a:r>
              <a:rPr lang="en-US" sz="1800" b="1">
                <a:latin typeface="Cambria"/>
              </a:rPr>
              <a:t>VADER</a:t>
            </a:r>
            <a:r>
              <a:rPr lang="en-US" sz="1800">
                <a:latin typeface="Cambria"/>
              </a:rPr>
              <a:t> – Sentiment analysis</a:t>
            </a:r>
          </a:p>
          <a:p>
            <a:pPr marL="285750" indent="-285750"/>
            <a:r>
              <a:rPr lang="en-US" sz="1800" b="1">
                <a:latin typeface="Cambria"/>
              </a:rPr>
              <a:t>Custom Rule-based Engine</a:t>
            </a:r>
            <a:r>
              <a:rPr lang="en-US" sz="1800">
                <a:latin typeface="Cambria"/>
              </a:rPr>
              <a:t> – Stress &amp; risk evaluation</a:t>
            </a:r>
          </a:p>
          <a:p>
            <a:pPr marL="285750" indent="-285750"/>
            <a:r>
              <a:rPr lang="en-US" sz="1800" b="1">
                <a:latin typeface="Cambria"/>
              </a:rPr>
              <a:t>Suggestion Engine</a:t>
            </a:r>
            <a:r>
              <a:rPr lang="en-US" sz="1800">
                <a:latin typeface="Cambria"/>
              </a:rPr>
              <a:t> – Mental health tips &amp; coping 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200" b="1">
                <a:latin typeface="Cambria"/>
                <a:ea typeface="Cambria"/>
              </a:rPr>
              <a:t>Database</a:t>
            </a:r>
            <a:endParaRPr lang="en-US" sz="2200">
              <a:latin typeface="Cambria"/>
              <a:ea typeface="Cambria"/>
            </a:endParaRPr>
          </a:p>
          <a:p>
            <a:pPr marL="285750" indent="-285750"/>
            <a:r>
              <a:rPr lang="en-US" sz="1700" b="1">
                <a:latin typeface="Cambria"/>
                <a:ea typeface="Cambria"/>
              </a:rPr>
              <a:t>SQLite Database</a:t>
            </a:r>
            <a:endParaRPr lang="en-US" sz="1700">
              <a:latin typeface="Cambria"/>
              <a:ea typeface="Cambria"/>
            </a:endParaRPr>
          </a:p>
          <a:p>
            <a:pPr marL="1200150" lvl="1" indent="-285750"/>
            <a:r>
              <a:rPr lang="en-US" sz="1700">
                <a:latin typeface="Cambria"/>
                <a:ea typeface="Cambria"/>
              </a:rPr>
              <a:t>Stores conversation history</a:t>
            </a:r>
          </a:p>
          <a:p>
            <a:pPr marL="1200150" lvl="1" indent="-285750"/>
            <a:r>
              <a:rPr lang="en-US" sz="1700">
                <a:latin typeface="Cambria"/>
                <a:ea typeface="Cambria"/>
              </a:rPr>
              <a:t>Stores user logs</a:t>
            </a:r>
          </a:p>
          <a:p>
            <a:pPr marL="1200150" lvl="1" indent="-285750"/>
            <a:r>
              <a:rPr lang="en-US" sz="1700">
                <a:latin typeface="Cambria"/>
                <a:ea typeface="Cambria"/>
              </a:rPr>
              <a:t>Stores sentiment/risk scores</a:t>
            </a:r>
          </a:p>
          <a:p>
            <a:pPr marL="285750" indent="-285750"/>
            <a:r>
              <a:rPr lang="en-US" sz="1700" b="1" err="1">
                <a:latin typeface="Cambria"/>
                <a:ea typeface="Cambria"/>
              </a:rPr>
              <a:t>SQLAlchemy</a:t>
            </a:r>
            <a:r>
              <a:rPr lang="en-US" sz="1700">
                <a:latin typeface="Cambria"/>
                <a:ea typeface="Cambria"/>
              </a:rPr>
              <a:t> – ORM layer</a:t>
            </a:r>
            <a:endParaRPr lang="en-US"/>
          </a:p>
          <a:p>
            <a:pPr marL="76200" indent="0">
              <a:buNone/>
            </a:pPr>
            <a:r>
              <a:rPr lang="en-US" b="1">
                <a:latin typeface="Cambria"/>
              </a:rPr>
              <a:t>DEVELOPMENT TOOLS</a:t>
            </a:r>
            <a:endParaRPr lang="en-US">
              <a:latin typeface="Cambria"/>
            </a:endParaRPr>
          </a:p>
          <a:p>
            <a:r>
              <a:rPr lang="en-US" sz="1800" b="1">
                <a:latin typeface="Cambria"/>
              </a:rPr>
              <a:t>VS Code / PyCharm</a:t>
            </a:r>
            <a:r>
              <a:rPr lang="en-US" sz="1800">
                <a:latin typeface="Cambria"/>
              </a:rPr>
              <a:t> – Code editors</a:t>
            </a:r>
          </a:p>
          <a:p>
            <a:r>
              <a:rPr lang="en-US" sz="1800" b="1">
                <a:latin typeface="Cambria"/>
              </a:rPr>
              <a:t>Git &amp; GitHub</a:t>
            </a:r>
            <a:r>
              <a:rPr lang="en-US" sz="1800">
                <a:latin typeface="Cambria"/>
              </a:rPr>
              <a:t> – Version control</a:t>
            </a:r>
          </a:p>
          <a:p>
            <a:r>
              <a:rPr lang="en-US" sz="1800" b="1">
                <a:latin typeface="Cambria"/>
              </a:rPr>
              <a:t>Browser:</a:t>
            </a:r>
            <a:r>
              <a:rPr lang="en-US" sz="1800">
                <a:latin typeface="Cambria"/>
              </a:rPr>
              <a:t> Chrome / Firefox</a:t>
            </a:r>
          </a:p>
          <a:p>
            <a:r>
              <a:rPr lang="en-US" sz="1800" b="1">
                <a:latin typeface="Cambria"/>
              </a:rPr>
              <a:t>Swagger UI</a:t>
            </a:r>
            <a:r>
              <a:rPr lang="en-US" sz="1800">
                <a:latin typeface="Cambria"/>
              </a:rPr>
              <a:t> – Auto-generated docs from </a:t>
            </a:r>
            <a:r>
              <a:rPr lang="en-US" sz="1800" err="1">
                <a:latin typeface="Cambria"/>
              </a:rPr>
              <a:t>FastAPI</a:t>
            </a:r>
            <a:endParaRPr lang="en-US" sz="1800">
              <a:latin typeface="Cambria"/>
            </a:endParaRPr>
          </a:p>
          <a:p>
            <a:r>
              <a:rPr lang="en-US" sz="1800" b="1" err="1">
                <a:latin typeface="Cambria"/>
              </a:rPr>
              <a:t>pytest</a:t>
            </a:r>
            <a:r>
              <a:rPr lang="en-US" sz="1800">
                <a:latin typeface="Cambria"/>
              </a:rPr>
              <a:t> – Testing &amp; debugging</a:t>
            </a: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76200" indent="0">
              <a:buNone/>
            </a:pPr>
            <a:r>
              <a:rPr lang="en-US" b="1" dirty="0"/>
              <a:t>1. VADER (Valence Aware Dictionary and </a:t>
            </a:r>
            <a:r>
              <a:rPr lang="en-US" b="1" dirty="0" err="1"/>
              <a:t>sEntiment</a:t>
            </a:r>
            <a:r>
              <a:rPr lang="en-US" b="1" dirty="0"/>
              <a:t> Reasoner)</a:t>
            </a:r>
          </a:p>
          <a:p>
            <a:pPr marL="76200" indent="0">
              <a:buNone/>
            </a:pPr>
            <a:r>
              <a:rPr lang="en-US"/>
              <a:t>Sentiment analysis on text</a:t>
            </a:r>
          </a:p>
          <a:p>
            <a:pPr marL="76200" indent="0">
              <a:buNone/>
            </a:pPr>
            <a:r>
              <a:rPr lang="en-US"/>
              <a:t>Produces compound score in [-1, 1] and labels (positive / neutral / negative)</a:t>
            </a:r>
          </a:p>
          <a:p>
            <a:pPr marL="76200" indent="0">
              <a:buNone/>
            </a:pPr>
            <a:r>
              <a:rPr lang="en-US"/>
              <a:t>Used in nlp.py</a:t>
            </a:r>
          </a:p>
          <a:p>
            <a:pPr marL="76200" indent="0">
              <a:buNone/>
            </a:pPr>
            <a:r>
              <a:rPr lang="en-US" b="1" dirty="0"/>
              <a:t>2. </a:t>
            </a:r>
            <a:r>
              <a:rPr lang="en-US" b="1" dirty="0" err="1"/>
              <a:t>spaCy</a:t>
            </a:r>
            <a:r>
              <a:rPr lang="en-US" b="1" dirty="0"/>
              <a:t> NLP pipeline</a:t>
            </a:r>
          </a:p>
          <a:p>
            <a:pPr marL="76200" indent="0">
              <a:buNone/>
            </a:pPr>
            <a:r>
              <a:rPr lang="en-US" dirty="0"/>
              <a:t>Tokenization, lemmatization, </a:t>
            </a:r>
            <a:r>
              <a:rPr lang="en-US" dirty="0" err="1"/>
              <a:t>stopword</a:t>
            </a:r>
            <a:r>
              <a:rPr lang="en-US" dirty="0"/>
              <a:t> filtering</a:t>
            </a:r>
          </a:p>
          <a:p>
            <a:pPr marL="76200" indent="0">
              <a:buNone/>
            </a:pPr>
            <a:r>
              <a:rPr lang="en-US" dirty="0"/>
              <a:t>Uses </a:t>
            </a:r>
            <a:r>
              <a:rPr lang="en-US" dirty="0" err="1"/>
              <a:t>en_core_web_sm</a:t>
            </a:r>
            <a:r>
              <a:rPr lang="en-US" dirty="0"/>
              <a:t> for preprocessing</a:t>
            </a:r>
          </a:p>
          <a:p>
            <a:pPr marL="76200" indent="0">
              <a:buNone/>
            </a:pPr>
            <a:r>
              <a:rPr lang="en-US"/>
              <a:t>Used in nlp.py</a:t>
            </a:r>
          </a:p>
          <a:p>
            <a:pPr marL="76200" indent="0">
              <a:buNone/>
            </a:pPr>
            <a:r>
              <a:rPr lang="en-US" b="1"/>
              <a:t>3. Rule-based stress score</a:t>
            </a:r>
          </a:p>
          <a:p>
            <a:pPr marL="76200" indent="0">
              <a:buNone/>
            </a:pPr>
            <a:r>
              <a:rPr lang="en-US"/>
              <a:t>Combines sentiment, fatigue, and sleep quality</a:t>
            </a:r>
          </a:p>
          <a:p>
            <a:pPr marL="76200" indent="0">
              <a:buNone/>
            </a:pPr>
            <a:r>
              <a:rPr lang="en-US" dirty="0"/>
              <a:t>Formula: </a:t>
            </a:r>
            <a:r>
              <a:rPr lang="en-US" dirty="0" err="1"/>
              <a:t>sentiment_component</a:t>
            </a:r>
            <a:r>
              <a:rPr lang="en-US" dirty="0"/>
              <a:t> + </a:t>
            </a:r>
            <a:r>
              <a:rPr lang="en-US" dirty="0" err="1"/>
              <a:t>fatigue_component</a:t>
            </a:r>
            <a:r>
              <a:rPr lang="en-US" dirty="0"/>
              <a:t> + </a:t>
            </a:r>
            <a:r>
              <a:rPr lang="en-US" dirty="0" err="1"/>
              <a:t>sleep_component</a:t>
            </a:r>
            <a:r>
              <a:rPr lang="en-US" dirty="0"/>
              <a:t> (with fixed weights)</a:t>
            </a:r>
          </a:p>
          <a:p>
            <a:pPr marL="76200" indent="0">
              <a:buNone/>
            </a:pPr>
            <a:r>
              <a:rPr lang="en-US"/>
              <a:t>Used in risk_engine.py</a:t>
            </a:r>
          </a:p>
          <a:p>
            <a:pPr marL="76200" indent="0">
              <a:buNone/>
            </a:pPr>
            <a:r>
              <a:rPr lang="en-US" b="1"/>
              <a:t>4. Risk level thresholds</a:t>
            </a:r>
          </a:p>
          <a:p>
            <a:pPr marL="76200" indent="0">
              <a:buNone/>
            </a:pPr>
            <a:r>
              <a:rPr lang="en-US"/>
              <a:t>Maps a 0–100 risk score to levels: low (&lt;30), moderate (30–60), high (60–80), critical (≥80)</a:t>
            </a:r>
          </a:p>
          <a:p>
            <a:pPr marL="76200" indent="0">
              <a:buNone/>
            </a:pPr>
            <a:r>
              <a:rPr lang="en-US"/>
              <a:t>Used in risk_engine.py</a:t>
            </a:r>
          </a:p>
          <a:p>
            <a:pPr marL="76200" indent="0">
              <a:buNone/>
            </a:pPr>
            <a:r>
              <a:rPr lang="en-US" b="1"/>
              <a:t>5. Sleep duration penalty</a:t>
            </a:r>
          </a:p>
          <a:p>
            <a:pPr marL="76200" indent="0">
              <a:buNone/>
            </a:pPr>
            <a:r>
              <a:rPr lang="en-US"/>
              <a:t>Adds penalty for low sleep hours (&lt;4, &lt;6, &lt;7)</a:t>
            </a:r>
          </a:p>
          <a:p>
            <a:pPr marL="76200" indent="0">
              <a:buNone/>
            </a:pPr>
            <a:r>
              <a:rPr lang="en-US"/>
              <a:t>Used in risk_engine.py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Algorithms Used</a:t>
            </a:r>
            <a:r>
              <a:rPr lang="en-GB">
                <a:latin typeface="Cambria"/>
                <a:ea typeface="Cambria"/>
                <a:sym typeface="+mn-ea"/>
              </a:rPr>
              <a:t>(contd...)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 lnSpcReduction="20000"/>
          </a:bodyPr>
          <a:lstStyle/>
          <a:p>
            <a:pPr marL="76200" indent="0">
              <a:buNone/>
            </a:pPr>
            <a:r>
              <a:rPr lang="en-US" b="1"/>
              <a:t>6. Crisis detection</a:t>
            </a:r>
          </a:p>
          <a:p>
            <a:pPr marL="76200" indent="0">
              <a:buNone/>
            </a:pPr>
            <a:r>
              <a:rPr lang="en-US" dirty="0"/>
              <a:t>Rule-based: critical risk, or high risk with score ≥75, or sentiment ≤ -0.6 with risk ≥60</a:t>
            </a:r>
          </a:p>
          <a:p>
            <a:pPr marL="76200" indent="0">
              <a:buNone/>
            </a:pPr>
            <a:r>
              <a:rPr lang="en-US"/>
              <a:t>Used in risk_engine.py</a:t>
            </a:r>
          </a:p>
          <a:p>
            <a:pPr marL="76200" indent="0">
              <a:buNone/>
            </a:pPr>
            <a:r>
              <a:rPr lang="en-US" b="1"/>
              <a:t>7. Issue severity ranking</a:t>
            </a:r>
          </a:p>
          <a:p>
            <a:pPr marL="76200" indent="0">
              <a:buNone/>
            </a:pPr>
            <a:r>
              <a:rPr lang="en-US"/>
              <a:t>Computes severity for sleep, fatigue, mood</a:t>
            </a:r>
          </a:p>
          <a:p>
            <a:pPr marL="76200" indent="0">
              <a:buNone/>
            </a:pPr>
            <a:r>
              <a:rPr lang="en-US"/>
              <a:t>Ranks primary and secondary issues</a:t>
            </a:r>
          </a:p>
          <a:p>
            <a:pPr marL="76200" indent="0">
              <a:buNone/>
            </a:pPr>
            <a:r>
              <a:rPr lang="en-US"/>
              <a:t>Used in suggestion_engine.py</a:t>
            </a:r>
          </a:p>
          <a:p>
            <a:pPr marL="76200" indent="0">
              <a:buNone/>
            </a:pPr>
            <a:r>
              <a:rPr lang="en-US" b="1"/>
              <a:t>8. Input-sensitive seed</a:t>
            </a:r>
          </a:p>
          <a:p>
            <a:pPr marL="76200" indent="0">
              <a:buNone/>
            </a:pPr>
            <a:r>
              <a:rPr lang="en-US"/>
              <a:t>Hash-like seed from sentiment, fatigue, sleep quality, hours slept</a:t>
            </a:r>
          </a:p>
          <a:p>
            <a:pPr marL="76200" indent="0">
              <a:buNone/>
            </a:pPr>
            <a:r>
              <a:rPr lang="en-US"/>
              <a:t>Drives suggestion variety</a:t>
            </a:r>
          </a:p>
          <a:p>
            <a:pPr marL="76200" indent="0">
              <a:buNone/>
            </a:pPr>
            <a:r>
              <a:rPr lang="en-US"/>
              <a:t>Used in suggestion_engine.py</a:t>
            </a:r>
          </a:p>
          <a:p>
            <a:pPr marL="76200" indent="0">
              <a:buNone/>
            </a:pPr>
            <a:r>
              <a:rPr lang="en-US" b="1" dirty="0"/>
              <a:t>9. Deterministic suggestion selection</a:t>
            </a:r>
          </a:p>
          <a:p>
            <a:pPr marL="76200" indent="0">
              <a:buNone/>
            </a:pPr>
            <a:r>
              <a:rPr lang="en-US"/>
              <a:t>Uses seed and step-based indexing to pick suggestions from pools</a:t>
            </a:r>
          </a:p>
          <a:p>
            <a:pPr marL="76200" indent="0">
              <a:buNone/>
            </a:pPr>
            <a:r>
              <a:rPr lang="en-US"/>
              <a:t>Avoids repeats and keeps variety</a:t>
            </a:r>
          </a:p>
          <a:p>
            <a:pPr marL="76200" indent="0">
              <a:buNone/>
            </a:pPr>
            <a:r>
              <a:rPr lang="en-US"/>
              <a:t>Used in suggestion_engine.py</a:t>
            </a:r>
          </a:p>
          <a:p>
            <a:pPr marL="76200" indent="0">
              <a:buNone/>
            </a:pPr>
            <a:r>
              <a:rPr lang="en-US" b="1"/>
              <a:t>10. Adaptive suggestion logic</a:t>
            </a:r>
          </a:p>
          <a:p>
            <a:pPr marL="76200" indent="0">
              <a:buNone/>
            </a:pPr>
            <a:r>
              <a:rPr lang="en-US"/>
              <a:t>Uses recent history (fatigue, sleep quality, risk scores)</a:t>
            </a:r>
          </a:p>
          <a:p>
            <a:pPr marL="76200" indent="0">
              <a:buNone/>
            </a:pPr>
            <a:r>
              <a:rPr lang="en-US"/>
              <a:t>Thresholds: avg fatigue ≥6, avg sleep quality &lt;5, avg risk ≥55</a:t>
            </a:r>
          </a:p>
          <a:p>
            <a:pPr marL="76200" indent="0">
              <a:buNone/>
            </a:pPr>
            <a:r>
              <a:rPr lang="en-US"/>
              <a:t>Adds personalized tips</a:t>
            </a:r>
          </a:p>
          <a:p>
            <a:pPr marL="76200" indent="0">
              <a:buNone/>
            </a:pPr>
            <a:r>
              <a:rPr lang="en-US"/>
              <a:t>Used in suggestion_engine.py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Algorithms Used</a:t>
            </a:r>
            <a:r>
              <a:rPr lang="en-GB">
                <a:latin typeface="Cambria"/>
                <a:ea typeface="Cambria"/>
                <a:sym typeface="+mn-ea"/>
              </a:rPr>
              <a:t>(contd...)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76200" indent="0">
              <a:buNone/>
            </a:pPr>
            <a:r>
              <a:rPr lang="en-US" b="1"/>
              <a:t>11. Peak stress prediction</a:t>
            </a:r>
          </a:p>
          <a:p>
            <a:pPr marL="76200" indent="0">
              <a:buNone/>
            </a:pPr>
            <a:r>
              <a:rPr lang="en-US" dirty="0"/>
              <a:t>Filters entries with </a:t>
            </a:r>
            <a:r>
              <a:rPr lang="en-US" dirty="0" err="1"/>
              <a:t>risk_score</a:t>
            </a:r>
            <a:r>
              <a:rPr lang="en-US" dirty="0"/>
              <a:t> ≥ 70</a:t>
            </a:r>
          </a:p>
          <a:p>
            <a:pPr marL="76200" indent="0">
              <a:buNone/>
            </a:pPr>
            <a:r>
              <a:rPr lang="en-US"/>
              <a:t>Creates 6-hour windows around high-risk points</a:t>
            </a:r>
          </a:p>
          <a:p>
            <a:pPr marL="76200" indent="0">
              <a:buNone/>
            </a:pPr>
            <a:r>
              <a:rPr lang="en-US"/>
              <a:t>Severity: high (≥80) vs moderate (70–80)</a:t>
            </a:r>
          </a:p>
          <a:p>
            <a:pPr marL="76200" indent="0">
              <a:buNone/>
            </a:pPr>
            <a:r>
              <a:rPr lang="en-US"/>
              <a:t>Used in routers/wellness.py (/timeline)</a:t>
            </a:r>
          </a:p>
          <a:p>
            <a:pPr marL="76200" indent="0">
              <a:buNone/>
            </a:pPr>
            <a:r>
              <a:rPr lang="en-US" b="1"/>
              <a:t>12. Circadian misalignment score</a:t>
            </a:r>
          </a:p>
          <a:p>
            <a:pPr marL="76200" indent="0">
              <a:buNone/>
            </a:pPr>
            <a:r>
              <a:rPr lang="en-US" dirty="0"/>
              <a:t>Heuristic: (10 - </a:t>
            </a:r>
            <a:r>
              <a:rPr lang="en-US" dirty="0" err="1"/>
              <a:t>avg_sleep_quality</a:t>
            </a:r>
            <a:r>
              <a:rPr lang="en-US" dirty="0"/>
              <a:t>) * 5 + max(0, 7 - </a:t>
            </a:r>
            <a:r>
              <a:rPr lang="en-US" dirty="0" err="1"/>
              <a:t>avg_hours</a:t>
            </a:r>
            <a:r>
              <a:rPr lang="en-US" dirty="0"/>
              <a:t>) * 5</a:t>
            </a:r>
          </a:p>
          <a:p>
            <a:pPr marL="76200" indent="0">
              <a:buNone/>
            </a:pPr>
            <a:r>
              <a:rPr lang="en-US"/>
              <a:t>Produces 0–100 score from recent sleep data</a:t>
            </a:r>
          </a:p>
          <a:p>
            <a:pPr marL="76200" indent="0">
              <a:buNone/>
            </a:pPr>
            <a:r>
              <a:rPr lang="en-US"/>
              <a:t>Used in routers/wellness.py (/sleep-prediction)</a:t>
            </a:r>
          </a:p>
          <a:p>
            <a:pPr marL="76200" indent="0">
              <a:buNone/>
            </a:pPr>
            <a:r>
              <a:rPr lang="en-US" b="1"/>
              <a:t>13. Trend aggregation</a:t>
            </a:r>
          </a:p>
          <a:p>
            <a:pPr marL="76200" indent="0">
              <a:buNone/>
            </a:pPr>
            <a:r>
              <a:rPr lang="en-US"/>
              <a:t>Time-windowed aggregation of risk, fatigue, sleep, sentiment</a:t>
            </a:r>
          </a:p>
          <a:p>
            <a:pPr marL="76200" indent="0">
              <a:buNone/>
            </a:pPr>
            <a:r>
              <a:rPr lang="en-US"/>
              <a:t>Used in routers/wellness.py (/trend)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17532" y="992039"/>
            <a:ext cx="11555894" cy="509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Astronauts who stay in space for a long time face mental and physical challenges due to isolation, confinement, and heavy work pressure.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Problems such as stress, tiredness, poor sleep, and reduced concentration usually develop slowly and are hard to notice in the early stages.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At present, astronauts mainly depend on scheduled communication with Earth and basic health monitoring for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In deep space missions, communication delays make it difficult to receive continuous psychological support from Earth.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Existing systems focus mostly on physical health or mission tasks and do not provide continuous emotional or mental well-being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Hence, there is a need for an AI-based system that can continuously monitor well-being, identify early warning signs, and provide supportive guidance during long-duration space missions.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/>
                <a:ea typeface="Cambria"/>
              </a:rPr>
              <a:t>Innovation or Novel Contributions</a:t>
            </a:r>
            <a:endParaRPr lang="en-US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>
                <a:latin typeface="Cambria"/>
              </a:rPr>
              <a:t>Our system is unique because it:</a:t>
            </a:r>
          </a:p>
          <a:p>
            <a:pPr marL="285750" indent="-285750" algn="just"/>
            <a:r>
              <a:rPr lang="en-US">
                <a:latin typeface="Cambria"/>
              </a:rPr>
              <a:t>Brings psychological and physical well-being support into one platform – conversation, stress understanding, risk monitoring, and guidance are all combined in a single system.</a:t>
            </a:r>
          </a:p>
          <a:p>
            <a:pPr marL="285750" indent="-285750" algn="just"/>
            <a:r>
              <a:rPr lang="en-US">
                <a:latin typeface="Cambria"/>
              </a:rPr>
              <a:t>Allows astronauts to express their feelings naturally – through a simple chat interface without pressure or judgement.</a:t>
            </a:r>
          </a:p>
          <a:p>
            <a:pPr marL="285750" indent="-285750" algn="just"/>
            <a:r>
              <a:rPr lang="en-US">
                <a:latin typeface="Cambria"/>
              </a:rPr>
              <a:t>Understands stress and emotional patterns over time – instead of reacting to a single message, it tracks changes across days.</a:t>
            </a:r>
          </a:p>
          <a:p>
            <a:pPr marL="285750" indent="-285750" algn="just"/>
            <a:r>
              <a:rPr lang="en-US">
                <a:latin typeface="Cambria"/>
              </a:rPr>
              <a:t>Provides personalized and adaptive support – suggestions and responses change based on the astronaut’s condition and past interactions.</a:t>
            </a:r>
          </a:p>
          <a:p>
            <a:pPr marL="285750" indent="-285750" algn="just"/>
            <a:r>
              <a:rPr lang="en-US">
                <a:latin typeface="Cambria"/>
              </a:rPr>
              <a:t>Identifies early warning signs – a well-being risk score helps detect mental or physical strain before it becomes serious.</a:t>
            </a:r>
          </a:p>
          <a:p>
            <a:pPr marL="285750" indent="-285750" algn="just"/>
            <a:r>
              <a:rPr lang="en-US">
                <a:latin typeface="Cambria"/>
              </a:rPr>
              <a:t>Works in low-connectivity or offline environments – ensuring continuous support even when communication with Earth is delayed.</a:t>
            </a:r>
          </a:p>
          <a:p>
            <a:pPr marL="285750" indent="-285750" algn="just"/>
            <a:r>
              <a:rPr lang="en-US">
                <a:latin typeface="Cambria"/>
              </a:rPr>
              <a:t>Respects privacy and ethical boundaries – offers support without medical diagnosis or sharing personal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outpu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65" y="1188720"/>
            <a:ext cx="995807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 sz="1800">
                <a:latin typeface="Cambria"/>
              </a:rPr>
              <a:t>[1] D. D. Chang, E. A. Storch, L. Black, M. Berk, N. Pellis, H. Lavretsky, J. Sutton, K. Ternes, M. Shepanek, E. Smith, R. Abbott, and H. A. Eyre, “Promoting tech transfer between space and global mental health,” Aerospace Medicine and Human Performance, vol. 91, no. 9, pp. 737–745, Sep.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[2] S. L. Chandra, P. R. Nair, and R. Kumar, “Artificial intelligence–based mental health support systems: A review,” arXiv preprint arXiv:2105.03216, May 2021.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[3] J. R. Clément and R. S. Ngo-Anh, “Keeping astronauts healthy during long-duration space missions,” Acta Astronautica, vol. 126, pp. 168–176, Sep.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[4] M. A. Cypko, U. Straube, R. J. Andrews, and O. Amft, “Digital health for space: Towards prevention, training, empowerment, and autonomy,” in Advancing Human-Computer Interaction for Space Exploration (SpaceCHI),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[5] L. A. De La Torre, A. L. Jennings, and R. J. Harvey, “Psychological challenges of long-duration spaceflight,” Journal of Applied Physiology, vol. 120, no. 7, pp. 1–9,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[6] European Space Agency (ESA), “Behavioral health and performance research for long-duration space missions,” ESA Human and Robotic Exploration Directorate,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[7] M. A. R. Finlayson, K. McNeal, and L. A. D’Mello, “Emotional detection and monitoring using conversational agents,” IEEE Transactions on Affective Computing, vol. 11, no. 2, pp. 1–14,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[8] F. Pagnini and F. Grosso, “Human space exploration: Benefits to humanity,”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[9] I. A. Rozanov, “Psychological support for astronauts in space,”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[10] K. Sandal, G. R. Leon, and S. Palinkas, “Human challenges in polar and space environments,” Reviews in Environmental Science and Bio/Technology, vol. 5, no. 2–3, pp. 281–296, 2006.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mbria"/>
                <a:ea typeface="Cambria"/>
              </a:rPr>
              <a:t>References (IEEE Paper format)(contd...)</a:t>
            </a:r>
            <a:endParaRPr lang="en-US" b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[11] T. B. Sheridan, “Human–AI interaction and trust in autonomous systems,” Human Factors, vol. 63, no. 5, pp. 1–12, 2021.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[12] N. Smith, “Technology to support mental health in deep space,” 2023.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[13] B. K. Wiederhold, “From cyberspace to outer space,” Cyberpsychology, Behavior, and Social Networking,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[14] Y. Wang, D. Dong, and W. Zhou, “Wearable health monitoring for astronauts,”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[15] G. G. De la Torre, “Behavioral health research in space analog,”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[16] N. J. Kanas, V. Salnitskiy, E. Grund, et al., “Interpersonal and cultural issues involving crews and ground personnel during International Space Station missions,” Aviation, Space, and Environmental Medicine, vol. 80, no. 7, pp. 647–655, Jul. 2009.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[17] A. A. Kanas and D. Manzey, Space Psychology and Psychiatry, 2nd ed., Springer, Dordrecht, 2008.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[18] A. Nezami, “Space psychology: A comprehensive approach to the future of astronaut wellbeing,” Frontiers in Virtual Reality, Jan.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[19] S. A. Shah, S. Karim, R. Kumar, and A. L. Bhatti, “Beyond the gravity: Exploring legal position of astronauts’ well-being in space,”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[20] S. Hussain, Z. Wang, and S. Rahim, “Ethical and privacy challenges in AI-driven health support systems,” arXiv preprint arXiv:2303.04127, Mar. 2023.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21416</Words>
  <Application>Microsoft Office PowerPoint</Application>
  <PresentationFormat>Widescreen</PresentationFormat>
  <Paragraphs>646</Paragraphs>
  <Slides>28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Bioinformatics</vt:lpstr>
      <vt:lpstr>MAITRI: AN AI ASSISTANT FOR PSYCHOLOGICAL &amp; PHYSICAL WELL-BEING OF ASTRONAUTS</vt:lpstr>
      <vt:lpstr>Content</vt:lpstr>
      <vt:lpstr>Problem Statement</vt:lpstr>
      <vt:lpstr>Abstract</vt:lpstr>
      <vt:lpstr>Background and Related work</vt:lpstr>
      <vt:lpstr>Background and Related work(contd...)</vt:lpstr>
      <vt:lpstr>Objectives</vt:lpstr>
      <vt:lpstr>Existing Methods and Drawbacks</vt:lpstr>
      <vt:lpstr>Existing Methods and Drawbacks(contd...)</vt:lpstr>
      <vt:lpstr>Proposed Method &amp; Feasibility Study</vt:lpstr>
      <vt:lpstr>Proposed Method &amp; Feasibility Study(contd...)</vt:lpstr>
      <vt:lpstr>Proposed Method &amp; Feasibility Study(contd...)</vt:lpstr>
      <vt:lpstr>Proposed Method &amp; Feasibility Study(contd...)</vt:lpstr>
      <vt:lpstr>Architecture Diagram</vt:lpstr>
      <vt:lpstr>Modules</vt:lpstr>
      <vt:lpstr>Modules(contd...)</vt:lpstr>
      <vt:lpstr>Hardware and Software Details</vt:lpstr>
      <vt:lpstr>Hardware and Software Details(contd...)</vt:lpstr>
      <vt:lpstr>Hardware and Software Details(contd...)</vt:lpstr>
      <vt:lpstr>Algorithms Used</vt:lpstr>
      <vt:lpstr>Algorithms Used(contd...)</vt:lpstr>
      <vt:lpstr>Algorithms Used(contd...)</vt:lpstr>
      <vt:lpstr>Analysis of Problem Statement</vt:lpstr>
      <vt:lpstr>Innovation or Novel Contributions</vt:lpstr>
      <vt:lpstr>Timeline of the Project (Gantt Chart)</vt:lpstr>
      <vt:lpstr>References (IEEE Paper format)</vt:lpstr>
      <vt:lpstr>References (IEEE Paper format)(contd...)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srikorrapati</cp:lastModifiedBy>
  <cp:revision>142</cp:revision>
  <dcterms:created xsi:type="dcterms:W3CDTF">2026-03-02T05:36:53Z</dcterms:created>
  <dcterms:modified xsi:type="dcterms:W3CDTF">2026-03-07T00:45:44Z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1033-5.2.1.7924</vt:lpwstr>
  </property>
</Properties>
</file>