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69" r:id="rId4"/>
    <p:sldId id="281" r:id="rId5"/>
    <p:sldId id="279" r:id="rId6"/>
    <p:sldId id="277" r:id="rId7"/>
    <p:sldId id="275" r:id="rId8"/>
    <p:sldId id="282" r:id="rId9"/>
    <p:sldId id="287" r:id="rId10"/>
    <p:sldId id="283" r:id="rId11"/>
    <p:sldId id="295" r:id="rId12"/>
    <p:sldId id="294" r:id="rId13"/>
    <p:sldId id="293" r:id="rId14"/>
    <p:sldId id="284" r:id="rId15"/>
    <p:sldId id="285" r:id="rId16"/>
    <p:sldId id="290" r:id="rId17"/>
    <p:sldId id="286" r:id="rId18"/>
    <p:sldId id="319" r:id="rId19"/>
    <p:sldId id="310" r:id="rId20"/>
    <p:sldId id="321" r:id="rId21"/>
    <p:sldId id="273" r:id="rId22"/>
    <p:sldId id="271" r:id="rId23"/>
    <p:sldId id="270" r:id="rId24"/>
    <p:sldId id="320" r:id="rId25"/>
    <p:sldId id="265" r:id="rId26"/>
    <p:sldId id="280" r:id="rId27"/>
    <p:sldId id="266" r:id="rId2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183339-FBB3-5129-05D4-12CFD2A58A00}" v="49" dt="2026-04-24T14:33:10.465"/>
  </p1510:revLst>
</p1510:revInfo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7690726-49DA-4552-BDEB-330DD8EA8BD9}" styleName="Table_0">
    <a:wholeTbl>
      <a:tcTxStyle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 panose="020B0604030504040204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 sz="2800" b="1" i="0" u="none" strike="noStrike" cap="none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/>
          <a:srcRect b="18046"/>
          <a:stretch>
            <a:fillRect/>
          </a:stretch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altLang="en-GB" sz="2400">
                <a:solidFill>
                  <a:schemeClr val="tx1"/>
                </a:solidFill>
                <a:latin typeface="Cambria"/>
                <a:ea typeface="Cambria"/>
              </a:rPr>
              <a:t>MAITRI: AN AI ASSISTANT FOR PSYCHOLOGICAL &amp; PHYSICAL WELL-BEING OF ASTRONAUTS</a:t>
            </a: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>
              <a:spcBef>
                <a:spcPts val="0"/>
              </a:spcBef>
            </a:pPr>
            <a:r>
              <a:rPr lang="en-GB" sz="1800">
                <a:latin typeface="Cambria"/>
                <a:ea typeface="Cambria"/>
              </a:rPr>
              <a:t>Batch Number: CSE_</a:t>
            </a:r>
            <a:r>
              <a:rPr lang="en-US" altLang="en-GB" sz="1800">
                <a:latin typeface="Cambria"/>
                <a:ea typeface="Cambria"/>
              </a:rPr>
              <a:t>65</a:t>
            </a: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ctr">
              <a:buClr>
                <a:srgbClr val="17365D"/>
              </a:buClr>
              <a:buSzPts val="2000"/>
              <a:buFont typeface="Arial" panose="020B0604020202020204"/>
              <a:buNone/>
            </a:pPr>
            <a:r>
              <a:rPr lang="en-GB" sz="1800" b="1" cap="none">
                <a:solidFill>
                  <a:srgbClr val="17365D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Under the Supervision of,</a:t>
            </a:r>
            <a:endParaRPr sz="1800">
              <a:latin typeface="Cambria"/>
              <a:ea typeface="Cambria"/>
            </a:endParaRPr>
          </a:p>
          <a:p>
            <a:pPr marL="0" indent="0" algn="ctr">
              <a:spcBef>
                <a:spcPts val="400"/>
              </a:spcBef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cap="none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algn="just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cap="none">
                <a:solidFill>
                  <a:srgbClr val="17365D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Dr.</a:t>
            </a:r>
            <a:r>
              <a:rPr lang="en-GB" sz="1700" b="1">
                <a:solidFill>
                  <a:srgbClr val="17365D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 </a:t>
            </a:r>
            <a:r>
              <a:rPr lang="en-US" altLang="en-GB" sz="1700" b="1">
                <a:solidFill>
                  <a:srgbClr val="17365D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Balakrishnan Raju</a:t>
            </a: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spcBef>
                <a:spcPts val="340"/>
              </a:spcBef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>
                <a:solidFill>
                  <a:srgbClr val="17365D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Associate</a:t>
            </a:r>
            <a:r>
              <a:rPr lang="en-GB" sz="1700" b="1" cap="none">
                <a:solidFill>
                  <a:srgbClr val="17365D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 Professor </a:t>
            </a:r>
            <a:endParaRPr>
              <a:latin typeface="Cambria"/>
              <a:ea typeface="Cambria"/>
            </a:endParaRPr>
          </a:p>
          <a:p>
            <a:pPr marL="0" indent="0" algn="just">
              <a:spcBef>
                <a:spcPts val="340"/>
              </a:spcBef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cap="none">
                <a:solidFill>
                  <a:srgbClr val="17365D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School of Computer Science and Engineering</a:t>
            </a:r>
            <a:endParaRPr>
              <a:latin typeface="Cambria"/>
              <a:ea typeface="Cambria"/>
            </a:endParaRPr>
          </a:p>
          <a:p>
            <a:pPr marL="0" indent="0" algn="just">
              <a:spcBef>
                <a:spcPts val="340"/>
              </a:spcBef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cap="none">
                <a:solidFill>
                  <a:srgbClr val="17365D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Presidency University</a:t>
            </a:r>
            <a:endParaRPr>
              <a:latin typeface="Cambria"/>
              <a:ea typeface="Cambria"/>
            </a:endParaRPr>
          </a:p>
          <a:p>
            <a:pPr marL="0" indent="0">
              <a:spcBef>
                <a:spcPts val="400"/>
              </a:spcBef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cap="none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graphicFrame>
        <p:nvGraphicFramePr>
          <p:cNvPr id="89" name="Google Shape;89;p13"/>
          <p:cNvGraphicFramePr/>
          <p:nvPr/>
        </p:nvGraphicFramePr>
        <p:xfrm>
          <a:off x="553347" y="2721840"/>
          <a:ext cx="5418675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u="none" strike="noStrike" cap="none"/>
                        <a:t>20221CSE0484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K SAI SRI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20221CSE0446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MEGHANA K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ctr"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GB" sz="1800" b="1" dirty="0">
                <a:solidFill>
                  <a:srgbClr val="17365D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CSE7</a:t>
            </a:r>
            <a:r>
              <a:rPr lang="en-US" altLang="en-GB" sz="1800" b="1" dirty="0">
                <a:solidFill>
                  <a:srgbClr val="17365D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302</a:t>
            </a:r>
            <a:r>
              <a:rPr lang="en-GB" sz="1800" b="1" dirty="0">
                <a:solidFill>
                  <a:srgbClr val="17365D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-</a:t>
            </a:r>
            <a:r>
              <a:rPr lang="en-GB" sz="1800" b="1" cap="none" dirty="0">
                <a:solidFill>
                  <a:srgbClr val="17365D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 </a:t>
            </a:r>
            <a:r>
              <a:rPr lang="en-US" altLang="en-GB" sz="1800" b="1" cap="none" dirty="0">
                <a:solidFill>
                  <a:srgbClr val="17365D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University</a:t>
            </a:r>
            <a:r>
              <a:rPr lang="en-GB" sz="1800" b="1" cap="none" dirty="0">
                <a:solidFill>
                  <a:srgbClr val="17365D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 Project</a:t>
            </a:r>
            <a:endParaRPr sz="1800" dirty="0">
              <a:latin typeface="Cambria"/>
              <a:ea typeface="Cambria"/>
            </a:endParaRPr>
          </a:p>
          <a:p>
            <a:pPr marL="0" indent="0" algn="ctr">
              <a:spcBef>
                <a:spcPts val="310"/>
              </a:spcBef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GB" sz="1800" b="1" dirty="0">
                <a:solidFill>
                  <a:srgbClr val="17365D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Review-</a:t>
            </a:r>
            <a:r>
              <a:rPr lang="en-US" altLang="en-GB" sz="1800" b="1" dirty="0">
                <a:solidFill>
                  <a:srgbClr val="17365D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5</a:t>
            </a:r>
            <a:endParaRPr lang="en-US" altLang="en-GB" sz="1800" b="1" cap="none" dirty="0">
              <a:solidFill>
                <a:srgbClr val="17365D"/>
              </a:solidFill>
              <a:latin typeface="Cambria"/>
              <a:ea typeface="Cambria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17365D"/>
              </a:buClr>
              <a:buSzPct val="100000"/>
            </a:pPr>
            <a:r>
              <a:rPr lang="en-US" sz="1800" b="1" cap="none">
                <a:solidFill>
                  <a:schemeClr val="accent1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Name of the Program: </a:t>
            </a:r>
            <a:r>
              <a:rPr lang="en-US" sz="1800" b="1" err="1">
                <a:solidFill>
                  <a:schemeClr val="accent1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B.Tech</a:t>
            </a:r>
            <a:r>
              <a:rPr lang="en-US" sz="1800" b="1">
                <a:solidFill>
                  <a:schemeClr val="accent1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, Computer Science and Engineering</a:t>
            </a:r>
            <a:endParaRPr lang="en-US" sz="1800" b="1" cap="none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>
              <a:buClr>
                <a:srgbClr val="17365D"/>
              </a:buClr>
              <a:buSzPct val="100000"/>
            </a:pPr>
            <a:r>
              <a:rPr lang="en-US" sz="1800" b="1">
                <a:solidFill>
                  <a:schemeClr val="accent1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Name of the </a:t>
            </a:r>
            <a:r>
              <a:rPr lang="en-US" sz="1800" b="1" err="1">
                <a:solidFill>
                  <a:schemeClr val="accent1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HoD</a:t>
            </a:r>
            <a:r>
              <a:rPr lang="en-US" sz="1800" b="1">
                <a:solidFill>
                  <a:schemeClr val="accent1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: </a:t>
            </a:r>
            <a:r>
              <a:rPr lang="en-US" sz="1800" b="1">
                <a:solidFill>
                  <a:schemeClr val="tx1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Dr. Blessed Prince</a:t>
            </a:r>
            <a:endParaRPr lang="en-US" sz="1800" b="1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</a:endParaRPr>
          </a:p>
          <a:p>
            <a:pPr>
              <a:buClr>
                <a:srgbClr val="17365D"/>
              </a:buClr>
              <a:buSzPct val="100000"/>
            </a:pPr>
            <a:r>
              <a:rPr lang="en-US" sz="1800" b="1" cap="none">
                <a:solidFill>
                  <a:schemeClr val="accent1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Name of the Program Project Coordinator: </a:t>
            </a:r>
            <a:r>
              <a:rPr lang="en-US" sz="1800" b="1">
                <a:solidFill>
                  <a:schemeClr val="tx1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DR. MUTHURAJU V</a:t>
            </a:r>
            <a:endParaRPr lang="en-US" sz="1800" b="1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</a:endParaRPr>
          </a:p>
          <a:p>
            <a:pPr>
              <a:buClr>
                <a:srgbClr val="17365D"/>
              </a:buClr>
              <a:buSzPct val="100000"/>
            </a:pPr>
            <a:r>
              <a:rPr lang="en-US" sz="1800" b="1">
                <a:solidFill>
                  <a:schemeClr val="accent1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Name of the School Project Coordinator: </a:t>
            </a:r>
            <a:r>
              <a:rPr lang="en-US" sz="1800" b="1" cap="none">
                <a:solidFill>
                  <a:schemeClr val="tx1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Dr. Sampath A K</a:t>
            </a:r>
            <a:endParaRPr sz="1800" b="1" cap="none">
              <a:solidFill>
                <a:schemeClr val="tx1"/>
              </a:solidFill>
              <a:latin typeface="Cambria"/>
              <a:ea typeface="Cambria"/>
              <a:cs typeface="Verdana" panose="020B0604030504040204"/>
              <a:sym typeface="Verdana" panose="020B060403050404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955" y="893817"/>
            <a:ext cx="10668000" cy="5573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500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/>
                <a:ea typeface="Cambria"/>
              </a:rPr>
              <a:t>Problem Statement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/>
                <a:ea typeface="Cambria"/>
              </a:rPr>
              <a:t>Abstract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/>
                <a:ea typeface="Cambria"/>
              </a:rPr>
              <a:t>Background and Related work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/>
                <a:ea typeface="Cambria"/>
              </a:rPr>
              <a:t>Objectives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/>
                <a:ea typeface="Cambria"/>
              </a:rPr>
              <a:t>Existing Methods and Drawbacks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/>
                <a:ea typeface="Cambria"/>
              </a:rPr>
              <a:t>Proposed Method &amp; Feasibility Study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/>
                <a:ea typeface="Cambria"/>
              </a:rPr>
              <a:t>Architecture Diagram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/>
                <a:ea typeface="Cambria"/>
              </a:rPr>
              <a:t>Modules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/>
                <a:ea typeface="Cambria"/>
              </a:rPr>
              <a:t>Hardware and Software Details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/>
                <a:ea typeface="Cambria"/>
              </a:rPr>
              <a:t>Advantages of Proposed System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/>
                <a:ea typeface="Cambria"/>
              </a:rPr>
              <a:t>Analysis of Problem Statement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/>
                <a:ea typeface="Cambria"/>
              </a:rPr>
              <a:t>Innovation or Novel Contributions</a:t>
            </a:r>
            <a:endParaRPr lang="en-US" sz="3200" dirty="0">
              <a:latin typeface="Cambria"/>
              <a:ea typeface="Cambria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/>
                <a:ea typeface="Cambria"/>
              </a:rPr>
              <a:t>Timeline of the Project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/>
                <a:ea typeface="Cambria"/>
              </a:rPr>
              <a:t>Conclusion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>
                <a:latin typeface="Cambria"/>
                <a:ea typeface="Cambria"/>
              </a:rPr>
              <a:t>Problem Statement</a:t>
            </a:r>
            <a:endParaRPr>
              <a:latin typeface="Cambria"/>
              <a:ea typeface="Cambria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7500"/>
          </a:bodyPr>
          <a:lstStyle/>
          <a:p>
            <a:pPr marL="342900" indent="-19050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b="1">
                <a:latin typeface="Cambria"/>
                <a:ea typeface="Cambria"/>
              </a:rPr>
              <a:t>Problem Statement Number:</a:t>
            </a:r>
            <a:r>
              <a:rPr lang="en-US">
                <a:latin typeface="Cambria"/>
                <a:ea typeface="Cambria"/>
              </a:rPr>
              <a:t> SIH25175</a:t>
            </a:r>
            <a:endParaRPr lang="en-US">
              <a:latin typeface="Cambria"/>
            </a:endParaRPr>
          </a:p>
          <a:p>
            <a:pPr marL="342900" indent="-19050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b="1">
                <a:latin typeface="Cambria"/>
                <a:ea typeface="Cambria"/>
              </a:rPr>
              <a:t>Organization:</a:t>
            </a:r>
            <a:r>
              <a:rPr lang="en-US">
                <a:latin typeface="Cambria"/>
                <a:ea typeface="Cambria"/>
              </a:rPr>
              <a:t> Indian Space Research Organisation(ISRO)</a:t>
            </a:r>
            <a:endParaRPr lang="en-US">
              <a:latin typeface="Cambria"/>
            </a:endParaRPr>
          </a:p>
          <a:p>
            <a:pPr marL="342900" indent="-19050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b="1">
                <a:latin typeface="Cambria"/>
                <a:ea typeface="Cambria"/>
              </a:rPr>
              <a:t>Category: </a:t>
            </a:r>
            <a:r>
              <a:rPr lang="en-US">
                <a:latin typeface="Cambria"/>
                <a:ea typeface="Cambria"/>
              </a:rPr>
              <a:t>Software </a:t>
            </a:r>
            <a:endParaRPr lang="en-US">
              <a:latin typeface="Cambria"/>
            </a:endParaRPr>
          </a:p>
          <a:p>
            <a:pPr marL="342900" indent="-19050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b="1">
                <a:latin typeface="Cambria"/>
                <a:ea typeface="Cambria"/>
              </a:rPr>
              <a:t>Problem Description: </a:t>
            </a:r>
            <a:r>
              <a:rPr lang="en-US">
                <a:latin typeface="Cambria"/>
                <a:ea typeface="Cambria"/>
              </a:rPr>
              <a:t>MAITRI: An AI Assistant for Psychological &amp; Physical Well-Being of Astronauts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>
                <a:latin typeface="Cambria"/>
              </a:rPr>
              <a:t>Long-duration space missions expose astronauts to stress, isolation, and fatigue, while delayed communication with Earth limits continuous support, creating the need for an autonomous AI-based well-being assistance system.</a:t>
            </a:r>
          </a:p>
          <a:p>
            <a:pPr marL="342900" indent="-190500" algn="just">
              <a:lnSpc>
                <a:spcPct val="170000"/>
              </a:lnSpc>
              <a:spcBef>
                <a:spcPts val="0"/>
              </a:spcBef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170000"/>
              </a:lnSpc>
              <a:spcBef>
                <a:spcPts val="0"/>
              </a:spcBef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170000"/>
              </a:lnSpc>
              <a:spcBef>
                <a:spcPts val="0"/>
              </a:spcBef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/>
              </a:rPr>
              <a:t>Abstract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5384" y="1072871"/>
            <a:ext cx="10935368" cy="47089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000" dirty="0">
                <a:latin typeface="Cambria"/>
              </a:rPr>
              <a:t>Mental well-being is a critical challenge for individuals working in isolated, high-stress environments such as space missions. Prolonged confinement, limited social interaction, and communication delays can lead to psychological strain, making continuous emotional support essential.</a:t>
            </a:r>
            <a:br>
              <a:rPr lang="en-US" sz="2000" dirty="0">
                <a:latin typeface="Cambria"/>
              </a:rPr>
            </a:br>
            <a:r>
              <a:rPr lang="en-US" sz="2000" dirty="0">
                <a:latin typeface="Cambria"/>
              </a:rPr>
              <a:t>This project, </a:t>
            </a:r>
            <a:r>
              <a:rPr lang="en-US" sz="2000" b="1" dirty="0">
                <a:latin typeface="Cambria"/>
              </a:rPr>
              <a:t>MAITRI</a:t>
            </a:r>
            <a:r>
              <a:rPr lang="en-US" sz="2000" dirty="0">
                <a:latin typeface="Cambria"/>
              </a:rPr>
              <a:t>, aims to provide an intelligent mental-health companion capable of understanding a user's emotional state and offering timely, personalized support.</a:t>
            </a:r>
          </a:p>
          <a:p>
            <a:r>
              <a:rPr lang="en-US" sz="2000" dirty="0">
                <a:latin typeface="Cambria"/>
              </a:rPr>
              <a:t>MAITRI uses a combination of </a:t>
            </a:r>
            <a:r>
              <a:rPr lang="en-US" sz="2000" b="1" dirty="0">
                <a:latin typeface="Cambria"/>
              </a:rPr>
              <a:t>Natural Language Processing (NLP)</a:t>
            </a:r>
            <a:r>
              <a:rPr lang="en-US" sz="2000" dirty="0">
                <a:latin typeface="Cambria"/>
              </a:rPr>
              <a:t> and </a:t>
            </a:r>
            <a:r>
              <a:rPr lang="en-US" sz="2000" b="1" dirty="0">
                <a:latin typeface="Cambria"/>
              </a:rPr>
              <a:t>rule-based analysis</a:t>
            </a:r>
            <a:r>
              <a:rPr lang="en-US" sz="2000" dirty="0">
                <a:latin typeface="Cambria"/>
              </a:rPr>
              <a:t> to interpret user inputs, detect emotions, assess stress levels, and provide suitable recommendations. The system architecture includes a </a:t>
            </a:r>
            <a:r>
              <a:rPr lang="en-US" sz="2000" b="1" dirty="0">
                <a:latin typeface="Cambria"/>
              </a:rPr>
              <a:t>React-based frontend</a:t>
            </a:r>
            <a:r>
              <a:rPr lang="en-US" sz="2000" dirty="0">
                <a:latin typeface="Cambria"/>
              </a:rPr>
              <a:t> for seamless interaction, a </a:t>
            </a:r>
            <a:r>
              <a:rPr lang="en-US" sz="2000" b="1" err="1">
                <a:latin typeface="Cambria"/>
              </a:rPr>
              <a:t>FastAPI</a:t>
            </a:r>
            <a:r>
              <a:rPr lang="en-US" sz="2000" b="1" dirty="0">
                <a:latin typeface="Cambria"/>
              </a:rPr>
              <a:t> backend</a:t>
            </a:r>
            <a:r>
              <a:rPr lang="en-US" sz="2000" dirty="0">
                <a:latin typeface="Cambria"/>
              </a:rPr>
              <a:t> for processing user queries, an </a:t>
            </a:r>
            <a:r>
              <a:rPr lang="en-US" sz="2000" b="1" dirty="0">
                <a:latin typeface="Cambria"/>
              </a:rPr>
              <a:t>NLP engine</a:t>
            </a:r>
            <a:r>
              <a:rPr lang="en-US" sz="2000" dirty="0">
                <a:latin typeface="Cambria"/>
              </a:rPr>
              <a:t> for sentiment and emotion analysis, and an optional </a:t>
            </a:r>
            <a:r>
              <a:rPr lang="en-US" sz="2000" b="1" dirty="0">
                <a:latin typeface="Cambria"/>
              </a:rPr>
              <a:t>database layer</a:t>
            </a:r>
            <a:r>
              <a:rPr lang="en-US" sz="2000" dirty="0">
                <a:latin typeface="Cambria"/>
              </a:rPr>
              <a:t> for storing conversation history and emotional patterns.</a:t>
            </a:r>
          </a:p>
          <a:p>
            <a:r>
              <a:rPr lang="en-US" sz="2000" dirty="0">
                <a:latin typeface="Cambria"/>
              </a:rPr>
              <a:t>By offering a simple, accessible, and always-available support system, MAITRI enhances physiological and physical well-being, improves self-awareness, and contributes to healthier decision-making. The solution is lightweight, feasible to implement, and scalable for use in both everyday scenarios and mission-critical environments like space travel.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mbria"/>
              </a:rPr>
              <a:t>Background and Related work</a:t>
            </a:r>
            <a:endParaRPr lang="en-US" b="0">
              <a:solidFill>
                <a:srgbClr val="000000"/>
              </a:solidFill>
              <a:latin typeface="Cambria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33172" y="1033468"/>
          <a:ext cx="11422280" cy="524256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2284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44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44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44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44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latin typeface="Cambria"/>
                        </a:rPr>
                        <a:t>AUTHOR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latin typeface="Cambria"/>
                        </a:rPr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latin typeface="Cambria"/>
                        </a:rPr>
                        <a:t>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latin typeface="Cambria"/>
                        </a:rPr>
                        <a:t>METHODOLOGY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latin typeface="Cambria"/>
                        </a:rPr>
                        <a:t>INFERENCE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725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err="1">
                          <a:latin typeface="Cambria"/>
                        </a:rPr>
                        <a:t>Annahita</a:t>
                      </a:r>
                      <a:r>
                        <a:rPr lang="en-US">
                          <a:latin typeface="Cambria"/>
                        </a:rPr>
                        <a:t> Nezami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Space Psychology: A Comprehensive Approach to the Future of Astronaut Well-Being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Review and analytical method based on existing research, theories, and literature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A combined approach of psychology and technology is essential for future space missions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725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Sardar Ali Shah, Saba Karim, Ramesh Kumar, Amir Latif Bhatti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Beyond the Gravity: Exploring Legal Position of Astronauts’ Well-Being in 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Doctrinal research method analyzing space laws, international treaties, and regulations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Existing space laws need improvement to better protect astronauts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1212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Ivan A. Rozanov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Psychological Support for Astronauts in 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Use of Virtual Reality (VR); data collected through observations, questionnaires, and sleep monitoring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Psychological support methods can be extended to hospitals and general medical care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725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Francesco Pagnini, Francesca Grosso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Human Space Exploration: Benefits to Humanity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Analysis of existing research studies and space psychology literature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Astronauts experience stress and mental health challenges during long-duration missions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0725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Yi Wang, Delong Dong, </a:t>
                      </a:r>
                      <a:r>
                        <a:rPr lang="en-US" err="1">
                          <a:latin typeface="Cambria"/>
                        </a:rPr>
                        <a:t>Wenlian</a:t>
                      </a:r>
                      <a:r>
                        <a:rPr lang="en-US">
                          <a:latin typeface="Cambria"/>
                        </a:rPr>
                        <a:t> Zhou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Wearable Health Monitoring for Astronauts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Study of current wearable technologies and flexible wearable device applications in 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Wearable devices enhance astronaut safety, though technical challenges still remain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mbria"/>
              </a:rPr>
              <a:t>Background and Related work(contd...)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98173" y="993913"/>
          <a:ext cx="11595630" cy="545592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23191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91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91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91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91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95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latin typeface="Cambria"/>
                        </a:rPr>
                        <a:t>AUTHOR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latin typeface="Cambria"/>
                        </a:rPr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latin typeface="Cambria"/>
                        </a:rPr>
                        <a:t>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latin typeface="Cambria"/>
                        </a:rPr>
                        <a:t>METHODOLOGY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latin typeface="Cambria"/>
                        </a:rPr>
                        <a:t>INFERENCE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32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Nathan Smith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Technology to Support Mental Health in Deep 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Analysis of digital health technologies combined with psychological and human-factor theories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Digital tools such as VR, AI assistants, monitoring systems, and automated support can effectively aid astronaut mental health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32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Antonia Russo, Gianluca Lax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Using Artificial Intelligence for Space Challenges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Application of Machine Learning, Deep Learning, Reinforcement Learning, and NLP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Provides strong justification for systems like MAITRI that integrate mental health monitoring with decision support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48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Mario A. </a:t>
                      </a:r>
                      <a:r>
                        <a:rPr lang="en-US" err="1">
                          <a:latin typeface="Cambria"/>
                        </a:rPr>
                        <a:t>Cypko</a:t>
                      </a:r>
                      <a:r>
                        <a:rPr lang="en-US">
                          <a:latin typeface="Cambria"/>
                        </a:rPr>
                        <a:t>, Ulrich Straube, Russell J. Andrews, Oliver </a:t>
                      </a:r>
                      <a:r>
                        <a:rPr lang="en-US" err="1">
                          <a:latin typeface="Cambria"/>
                        </a:rPr>
                        <a:t>Amft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Digital Health for Space: Towards Prevention, Training, Empowerment, and Autonomy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Evaluation across space mission scenarios (ISS, Moon, Mars, deep space)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Long-duration space missions require autonomous digital health systems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248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Brenda K. Wiederhold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From Cyberspace to Outer 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Discussion of existing and emerging digital technologies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Astronauts face significant mental health challenges due to isolation, stress, and extended missions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248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Donald D. Chang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2020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Promoting Tech Transfer Between Space and Global Mental Health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Space medicine research using a systematic review 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AI, mobile apps, sensors, telemedicine, and chatbots can effectively support mental health care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mbria"/>
              </a:rPr>
              <a:t>Objectives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0" y="950844"/>
            <a:ext cx="10668000" cy="4953000"/>
          </a:xfrm>
        </p:spPr>
        <p:txBody>
          <a:bodyPr>
            <a:normAutofit fontScale="80000"/>
          </a:bodyPr>
          <a:lstStyle/>
          <a:p>
            <a:pPr marL="285750" indent="-285750">
              <a:lnSpc>
                <a:spcPct val="150000"/>
              </a:lnSpc>
            </a:pPr>
            <a:r>
              <a:rPr lang="en-US">
                <a:latin typeface="Cambria"/>
              </a:rPr>
              <a:t>To develop an AI-powered assistant that supports the psychological and physical well-being of astronauts during long-duration space missions.</a:t>
            </a:r>
          </a:p>
          <a:p>
            <a:pPr marL="285750" indent="-285750">
              <a:lnSpc>
                <a:spcPct val="150000"/>
              </a:lnSpc>
            </a:pPr>
            <a:r>
              <a:rPr lang="en-US">
                <a:latin typeface="Cambria"/>
              </a:rPr>
              <a:t>To provide a conversational interaction mechanism that allows astronauts to naturally express stress, fatigue, and daily experiences, and to analyze these interactions to detect emotional and stress levels.</a:t>
            </a:r>
          </a:p>
          <a:p>
            <a:pPr marL="285750" indent="-285750">
              <a:lnSpc>
                <a:spcPct val="150000"/>
              </a:lnSpc>
            </a:pPr>
            <a:r>
              <a:rPr lang="en-US">
                <a:latin typeface="Cambria"/>
              </a:rPr>
              <a:t>To monitor overall well-being trends by integrating emotional indicators with simulated physical parameters such as sleep quality and fatigue levels.</a:t>
            </a:r>
          </a:p>
          <a:p>
            <a:pPr marL="285750" indent="-285750">
              <a:lnSpc>
                <a:spcPct val="150000"/>
              </a:lnSpc>
            </a:pPr>
            <a:r>
              <a:rPr lang="en-US">
                <a:latin typeface="Cambria"/>
              </a:rPr>
              <a:t>To generate a well-being risk score and adaptive support strategies, including relaxation activities and routine guidance, for early identification and mitigation of mental or physical strain.</a:t>
            </a:r>
          </a:p>
          <a:p>
            <a:pPr marL="285750" indent="-285750">
              <a:lnSpc>
                <a:spcPct val="150000"/>
              </a:lnSpc>
            </a:pPr>
            <a:r>
              <a:rPr lang="en-US">
                <a:latin typeface="Cambria"/>
              </a:rPr>
              <a:t>To design and evaluate a privacy-aware, offline-capable web-based system, including a dashboard for visualizing well-being status, trends, and recommendations using simulated mission scenarios.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/>
              </a:rPr>
              <a:t>Existing Methods and Drawbacks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27789" y="1036052"/>
          <a:ext cx="11430295" cy="498367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860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2019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Research Paper &amp; Author(s)</a:t>
                      </a:r>
                      <a:endParaRPr lang="en-US" b="1">
                        <a:latin typeface="Cambria"/>
                      </a:endParaRPr>
                    </a:p>
                  </a:txBody>
                  <a:tcPr marL="65151" marR="65151" marT="32576" marB="32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Existing Model / Method</a:t>
                      </a:r>
                      <a:endParaRPr lang="en-US" b="1">
                        <a:latin typeface="Cambria"/>
                      </a:endParaRPr>
                    </a:p>
                  </a:txBody>
                  <a:tcPr marL="65151" marR="65151" marT="32576" marB="32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Summary of Approach</a:t>
                      </a:r>
                      <a:endParaRPr lang="en-US" b="1">
                        <a:latin typeface="Cambria"/>
                      </a:endParaRPr>
                    </a:p>
                  </a:txBody>
                  <a:tcPr marL="65151" marR="65151" marT="32576" marB="32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Limitations</a:t>
                      </a:r>
                      <a:endParaRPr lang="en-US" b="1">
                        <a:latin typeface="Cambria"/>
                      </a:endParaRPr>
                    </a:p>
                  </a:txBody>
                  <a:tcPr marL="65151" marR="65151" marT="32576" marB="32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Critique</a:t>
                      </a:r>
                    </a:p>
                  </a:txBody>
                  <a:tcPr marL="65151" marR="65151" marT="32576" marB="32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950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Space Psychology: A Comprehensive Approach to the Future of Astronaut Well-Being</a:t>
                      </a:r>
                      <a:endParaRPr lang="en-US" sz="1200">
                        <a:latin typeface="Cambria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- </a:t>
                      </a:r>
                      <a:r>
                        <a:rPr lang="en-US" sz="1200" b="0" i="0" u="none" strike="noStrike" noProof="0" err="1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Annahita</a:t>
                      </a: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 Nezami (2025) 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50" marR="65150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Review-based psychological and technological framework</a:t>
                      </a:r>
                      <a:endParaRPr lang="en-US" sz="1200">
                        <a:latin typeface="Cambria"/>
                      </a:endParaRPr>
                    </a:p>
                    <a:p>
                      <a:pPr lvl="0" algn="l">
                        <a:lnSpc>
                          <a:spcPts val="1200"/>
                        </a:lnSpc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mbria"/>
                      </a:endParaRPr>
                    </a:p>
                  </a:txBody>
                  <a:tcPr marL="65150" marR="65150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Reviews psychological and technological approaches for supporting astronaut mental health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50" marR="65150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Based entirely on existing literature; lacks experimental or system-level validation.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50" marR="65150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The approach is conceptual and does not propose a concrete implementation or autonomous support system.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50" marR="65150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950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Beyond the Gravity: Exploring Legal Position of Astronauts’ Well-Being in Space</a:t>
                      </a:r>
                      <a:endParaRPr lang="en-US" sz="1200">
                        <a:latin typeface="Cambria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- Sardar Ali Shah (2024)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Doctrinal legal research model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Analyzes international space laws, treaties, and regulations related to astronaut well-being.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Addresses legal aspects only, without psychological or technological support.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Provides policy insight but offers no practical solution for real-time mental health monitoring or support.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451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Psychological Support for Astronauts in Space</a:t>
                      </a:r>
                      <a:endParaRPr lang="en-US" sz="1200">
                        <a:latin typeface="Cambria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- Ivan A. (2022)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VR-based psychological support and monitoring system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Uses Virtual Reality, questionnaires, and sleep monitoring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Requires advanced hardware, continuous monitoring, resources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Scalability and feasibility are limited for long-duration.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950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Human Space Exploration: Benefits to Humanity</a:t>
                      </a:r>
                      <a:endParaRPr lang="en-US" sz="1200">
                        <a:latin typeface="Cambria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-Francesco Pagnini, Francesca Grosso (2025)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Space psychology analytical framework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Reviews psychological challenges such as stress and mental strain during long-duration space missions.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Mainly descriptive and analytical; lacks intervention or support mechanisms.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Does not integrate digital or AI-based solutions for proactive mental health management.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6950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Wearable Health Monitoring for Astronauts</a:t>
                      </a:r>
                      <a:endParaRPr lang="en-US" sz="1200">
                        <a:latin typeface="Cambria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- Yi Wang, Delong Dong, Wenjian Zhou (2025)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50" marR="65150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Wearable sensor-based health monitoring model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50" marR="65150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Studies wearable devices for continuous physiological monitoring of astronauts in space.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50" marR="65150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Focuses primarily on physical health indicators.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50" marR="65150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Mental health assessment remains indirect and insufficient for comprehensive psychological evaluation.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50" marR="65150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/>
              </a:rPr>
              <a:t>Existing Methods and Drawbacks</a:t>
            </a:r>
            <a:r>
              <a:rPr lang="en-US" dirty="0">
                <a:latin typeface="Cambria"/>
                <a:ea typeface="Cambria"/>
              </a:rPr>
              <a:t>(contd...)</a:t>
            </a:r>
            <a:endParaRPr lang="en-US" dirty="0">
              <a:latin typeface="Cambria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27789" y="1163052"/>
          <a:ext cx="11430295" cy="4839721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860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7542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Research Paper &amp; Author(s)</a:t>
                      </a:r>
                      <a:endParaRPr lang="en-US" b="1">
                        <a:latin typeface="Cambria"/>
                      </a:endParaRPr>
                    </a:p>
                  </a:txBody>
                  <a:tcPr marL="65151" marR="65151" marT="32576" marB="32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Existing Model / Method</a:t>
                      </a:r>
                      <a:endParaRPr lang="en-US" b="1">
                        <a:latin typeface="Cambria"/>
                      </a:endParaRPr>
                    </a:p>
                  </a:txBody>
                  <a:tcPr marL="65151" marR="65151" marT="32576" marB="32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Summary of Approach</a:t>
                      </a:r>
                      <a:endParaRPr lang="en-US" b="1">
                        <a:latin typeface="Cambria"/>
                      </a:endParaRPr>
                    </a:p>
                  </a:txBody>
                  <a:tcPr marL="65151" marR="65151" marT="32576" marB="32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Limitations</a:t>
                      </a:r>
                      <a:endParaRPr lang="en-US" b="1">
                        <a:latin typeface="Cambria"/>
                      </a:endParaRPr>
                    </a:p>
                  </a:txBody>
                  <a:tcPr marL="65151" marR="65151" marT="32576" marB="32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Critique</a:t>
                      </a:r>
                    </a:p>
                  </a:txBody>
                  <a:tcPr marL="65151" marR="65151" marT="32576" marB="32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418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Mental Health Technologies for Space Missions</a:t>
                      </a:r>
                      <a:endParaRPr lang="en-US" sz="1200">
                        <a:latin typeface="Cambria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- Smith (2023)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Digital mental health framework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Uses VR and AI tools to support astronaut mental health.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Depends on Earth-based support.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Limited autonomy in deep-space missions.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3246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Artificial Intelligence and Machine Learning in Space Systems</a:t>
                      </a:r>
                      <a:endParaRPr lang="en-US" sz="1200">
                        <a:latin typeface="Cambria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- Russo &amp; Lax (2022)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AI and ML-based intelligent systems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Applies machine learning, and NLP techniques for decision support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Requires large datasets and extensive training.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Reliability and ethical concerns limit direct use in mental health decision-making.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7418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Autonomous Digital Health Systems for Space Missions</a:t>
                      </a:r>
                      <a:endParaRPr lang="en-US" sz="1200">
                        <a:latin typeface="Cambria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- </a:t>
                      </a:r>
                      <a:r>
                        <a:rPr lang="en-US" sz="1200" b="0" i="0" u="none" strike="noStrike" noProof="0" err="1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Cypko</a:t>
                      </a: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 et al. (2025)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Autonomous digital health and self-management systems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Focuses on prevention, training, and autonomous health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High system complexity and integration challenges.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Strong dependence on system accuracy poses risks in critical environments.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073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Emerging Digital Technologies for Mental Health in Space</a:t>
                      </a:r>
                      <a:endParaRPr lang="en-US" sz="1200">
                        <a:latin typeface="Cambria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- Wiederhold (2025)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Digital and immersive technology framework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Reviews emerging digital and cyberspace technologies to address in space.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Mostly theoretical with limited empirical evaluation.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Lack of astronaut-centered validation reduces practical applicability.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0502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Technology Transfer from Space to Earth for Mental Health Care</a:t>
                      </a:r>
                      <a:endParaRPr lang="en-US" sz="1200">
                        <a:latin typeface="Cambria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- Chang (2020) 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AI, telemedicine, and mobile health model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Explores AI, sensors, telemedicine, mobile apps, and chatbots for mental health support.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Generalized solutions not tailored for deep-space missions.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Does not fully address isolation, latency, and autonomy constraints in space.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/>
              </a:rPr>
              <a:t>Proposed Method &amp; Feasibility Study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L="76200" indent="0">
              <a:buNone/>
            </a:pPr>
            <a:r>
              <a:rPr lang="en-US" b="1" dirty="0">
                <a:latin typeface="Cambria"/>
              </a:rPr>
              <a:t>PROPOSED METHOD</a:t>
            </a:r>
          </a:p>
          <a:p>
            <a:pPr>
              <a:buNone/>
            </a:pPr>
            <a:r>
              <a:rPr lang="en-US" b="1" dirty="0">
                <a:latin typeface="Cambria"/>
              </a:rPr>
              <a:t>1. User Interaction</a:t>
            </a:r>
            <a:endParaRPr lang="en-US" dirty="0">
              <a:latin typeface="Cambria"/>
            </a:endParaRPr>
          </a:p>
          <a:p>
            <a:pPr marL="285750" indent="-285750"/>
            <a:r>
              <a:rPr lang="en-US" dirty="0">
                <a:latin typeface="Cambria"/>
              </a:rPr>
              <a:t>User enters their emotional text/query through the React-based chat interface.</a:t>
            </a:r>
          </a:p>
          <a:p>
            <a:pPr marL="285750" indent="-285750"/>
            <a:r>
              <a:rPr lang="en-US" dirty="0">
                <a:latin typeface="Cambria"/>
              </a:rPr>
              <a:t>The interface sends the message to the backend using REST API.</a:t>
            </a:r>
          </a:p>
          <a:p>
            <a:pPr marL="0" indent="0">
              <a:buNone/>
            </a:pPr>
            <a:r>
              <a:rPr lang="en-US" b="1" dirty="0">
                <a:latin typeface="Cambria"/>
              </a:rPr>
              <a:t>2. NLP-Based Text Processing</a:t>
            </a:r>
            <a:endParaRPr lang="en-US" dirty="0">
              <a:latin typeface="Cambria"/>
            </a:endParaRPr>
          </a:p>
          <a:p>
            <a:pPr marL="285750" indent="-285750"/>
            <a:r>
              <a:rPr lang="en-US" dirty="0" err="1">
                <a:latin typeface="Cambria"/>
              </a:rPr>
              <a:t>FastAPI</a:t>
            </a:r>
            <a:r>
              <a:rPr lang="en-US" dirty="0">
                <a:latin typeface="Cambria"/>
              </a:rPr>
              <a:t> backend receives the message.</a:t>
            </a:r>
          </a:p>
          <a:p>
            <a:pPr marL="285750" indent="-285750"/>
            <a:r>
              <a:rPr lang="en-US" dirty="0">
                <a:latin typeface="Cambria"/>
              </a:rPr>
              <a:t>Text is cleaned, tokenized, and processed using NLP techniques.</a:t>
            </a:r>
          </a:p>
          <a:p>
            <a:pPr marL="285750" indent="-285750"/>
            <a:r>
              <a:rPr lang="en-US" dirty="0">
                <a:latin typeface="Cambria"/>
              </a:rPr>
              <a:t>Sentiment and emotional tone (stress, sadness, anxiety) are identified.</a:t>
            </a:r>
          </a:p>
          <a:p>
            <a:pPr marL="0" indent="0">
              <a:buNone/>
            </a:pPr>
            <a:r>
              <a:rPr lang="en-US" b="1" dirty="0">
                <a:latin typeface="Cambria"/>
              </a:rPr>
              <a:t>3. Risk Assessment</a:t>
            </a:r>
            <a:endParaRPr lang="en-US" dirty="0">
              <a:latin typeface="Cambria"/>
            </a:endParaRPr>
          </a:p>
          <a:p>
            <a:pPr marL="285750" indent="-285750"/>
            <a:r>
              <a:rPr lang="en-US" dirty="0">
                <a:latin typeface="Cambria"/>
              </a:rPr>
              <a:t>The analyzed sentiment score is passed into a rule-based engine.</a:t>
            </a:r>
          </a:p>
          <a:p>
            <a:pPr marL="285750" indent="-285750"/>
            <a:r>
              <a:rPr lang="en-US" dirty="0">
                <a:latin typeface="Cambria"/>
              </a:rPr>
              <a:t>The system categorizes the emotional intensity into:</a:t>
            </a:r>
          </a:p>
          <a:p>
            <a:pPr marL="1200150" lvl="1" indent="-285750"/>
            <a:r>
              <a:rPr lang="en-US" dirty="0">
                <a:latin typeface="Cambria"/>
              </a:rPr>
              <a:t>Low risk</a:t>
            </a:r>
            <a:endParaRPr lang="en-US" dirty="0"/>
          </a:p>
          <a:p>
            <a:pPr marL="1200150" lvl="1" indent="-285750"/>
            <a:r>
              <a:rPr lang="en-US" dirty="0">
                <a:latin typeface="Cambria"/>
              </a:rPr>
              <a:t>Moderate risk</a:t>
            </a:r>
            <a:endParaRPr lang="en-US" dirty="0"/>
          </a:p>
          <a:p>
            <a:pPr marL="1200150" lvl="1" indent="-285750"/>
            <a:r>
              <a:rPr lang="en-US" dirty="0">
                <a:latin typeface="Cambria"/>
              </a:rPr>
              <a:t>High risk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/>
              </a:rPr>
              <a:t>Proposed Method &amp; Feasibility Study</a:t>
            </a:r>
            <a:r>
              <a:rPr lang="en-US" dirty="0">
                <a:latin typeface="Cambria"/>
                <a:ea typeface="Cambria"/>
              </a:rPr>
              <a:t>(contd...)</a:t>
            </a:r>
            <a:endParaRPr lang="en-US" dirty="0">
              <a:latin typeface="Cambri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dirty="0">
                <a:latin typeface="Cambria"/>
              </a:rPr>
              <a:t>4. Suggestion Generation</a:t>
            </a:r>
            <a:endParaRPr lang="en-US" dirty="0">
              <a:latin typeface="Cambria"/>
            </a:endParaRPr>
          </a:p>
          <a:p>
            <a:pPr marL="285750" indent="-285750"/>
            <a:r>
              <a:rPr lang="en-US" dirty="0">
                <a:latin typeface="Cambria"/>
              </a:rPr>
              <a:t>Based on emotional category, the Suggestion Engine provides:</a:t>
            </a:r>
          </a:p>
          <a:p>
            <a:pPr lvl="1"/>
            <a:r>
              <a:rPr lang="en-US" dirty="0">
                <a:latin typeface="Cambria"/>
              </a:rPr>
              <a:t>Coping strategies</a:t>
            </a:r>
          </a:p>
          <a:p>
            <a:pPr lvl="1"/>
            <a:r>
              <a:rPr lang="en-US" dirty="0">
                <a:latin typeface="Cambria"/>
              </a:rPr>
              <a:t>Relaxation/breathing techniques</a:t>
            </a:r>
          </a:p>
          <a:p>
            <a:pPr lvl="1"/>
            <a:r>
              <a:rPr lang="en-US" dirty="0">
                <a:latin typeface="Cambria"/>
              </a:rPr>
              <a:t>Positive reinforcement</a:t>
            </a:r>
          </a:p>
          <a:p>
            <a:pPr lvl="1"/>
            <a:r>
              <a:rPr lang="en-US" dirty="0">
                <a:latin typeface="Cambria"/>
              </a:rPr>
              <a:t>Emergency help message (if risk is high)</a:t>
            </a:r>
          </a:p>
          <a:p>
            <a:pPr marL="0" indent="0">
              <a:buNone/>
            </a:pPr>
            <a:r>
              <a:rPr lang="en-US" sz="2400" b="1" dirty="0">
                <a:latin typeface="Cambria"/>
              </a:rPr>
              <a:t>5. Response Delivery</a:t>
            </a:r>
            <a:endParaRPr lang="en-US" dirty="0">
              <a:latin typeface="Cambria"/>
            </a:endParaRPr>
          </a:p>
          <a:p>
            <a:pPr marL="285750" indent="-285750"/>
            <a:r>
              <a:rPr lang="en-US" dirty="0">
                <a:latin typeface="Cambria"/>
              </a:rPr>
              <a:t>The backend sends the final structured response back to the React UI.</a:t>
            </a:r>
          </a:p>
          <a:p>
            <a:pPr marL="285750" indent="-285750"/>
            <a:r>
              <a:rPr lang="en-US" dirty="0">
                <a:latin typeface="Cambria"/>
              </a:rPr>
              <a:t>The user sees:</a:t>
            </a:r>
          </a:p>
          <a:p>
            <a:pPr lvl="1"/>
            <a:r>
              <a:rPr lang="en-US" dirty="0">
                <a:latin typeface="Cambria"/>
              </a:rPr>
              <a:t>System-generated support message</a:t>
            </a:r>
          </a:p>
          <a:p>
            <a:pPr lvl="1"/>
            <a:r>
              <a:rPr lang="en-US" dirty="0">
                <a:latin typeface="Cambria"/>
              </a:rPr>
              <a:t>Suggested activities/techniques</a:t>
            </a:r>
          </a:p>
          <a:p>
            <a:pPr lvl="1"/>
            <a:r>
              <a:rPr lang="en-US" dirty="0">
                <a:latin typeface="Cambria"/>
              </a:rPr>
              <a:t>Emotional insights</a:t>
            </a:r>
          </a:p>
          <a:p>
            <a:pPr marL="0" indent="0">
              <a:buNone/>
            </a:pPr>
            <a:r>
              <a:rPr lang="en-US" sz="2400" b="1" dirty="0">
                <a:latin typeface="Cambria"/>
              </a:rPr>
              <a:t>6. Optional Logging</a:t>
            </a:r>
            <a:endParaRPr lang="en-US" b="1" dirty="0">
              <a:latin typeface="Cambria"/>
            </a:endParaRPr>
          </a:p>
          <a:p>
            <a:pPr marL="342900" indent="-342900"/>
            <a:r>
              <a:rPr lang="en-US" dirty="0">
                <a:latin typeface="Cambria"/>
              </a:rPr>
              <a:t>Conversation history and sentiment scores may be stored in the SQLite database for future analysis.</a:t>
            </a:r>
          </a:p>
          <a:p>
            <a:pPr>
              <a:buNone/>
            </a:pPr>
            <a:endParaRPr lang="en-US" b="1" dirty="0">
              <a:latin typeface="Cambr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/>
              </a:rPr>
              <a:t>Proposed Method &amp; Feasibility Study</a:t>
            </a:r>
            <a:r>
              <a:rPr lang="en-US" dirty="0">
                <a:latin typeface="Cambria"/>
                <a:ea typeface="Cambria"/>
              </a:rPr>
              <a:t>(contd...)</a:t>
            </a:r>
            <a:endParaRPr lang="en-US" dirty="0">
              <a:latin typeface="Cambri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0" y="967674"/>
            <a:ext cx="10668000" cy="5287210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sz="3200" b="1">
                <a:latin typeface="Cambria"/>
              </a:rPr>
              <a:t>FEASIBILITY STUDY</a:t>
            </a:r>
            <a:endParaRPr lang="en-US" sz="3200">
              <a:latin typeface="Cambria"/>
            </a:endParaRPr>
          </a:p>
          <a:p>
            <a:pPr>
              <a:buNone/>
            </a:pPr>
            <a:r>
              <a:rPr lang="en-US" sz="2200" b="1">
                <a:latin typeface="Cambria"/>
              </a:rPr>
              <a:t>1. Technical Feasibility</a:t>
            </a:r>
            <a:endParaRPr lang="en-US">
              <a:latin typeface="Cambria"/>
            </a:endParaRPr>
          </a:p>
          <a:p>
            <a:pPr marL="285750" indent="-285750"/>
            <a:r>
              <a:rPr lang="en-US" sz="2200" b="1">
                <a:latin typeface="Cambria"/>
              </a:rPr>
              <a:t>Frontend</a:t>
            </a:r>
            <a:r>
              <a:rPr lang="en-US" sz="2200">
                <a:latin typeface="Cambria"/>
              </a:rPr>
              <a:t>: React + Tailwind - widely supported, easy to develop, fast.</a:t>
            </a:r>
            <a:endParaRPr lang="en-US">
              <a:latin typeface="Cambria"/>
            </a:endParaRPr>
          </a:p>
          <a:p>
            <a:pPr marL="285750" indent="-285750"/>
            <a:r>
              <a:rPr lang="en-US" sz="2200" b="1">
                <a:latin typeface="Cambria"/>
              </a:rPr>
              <a:t>Backend</a:t>
            </a:r>
            <a:r>
              <a:rPr lang="en-US" sz="2200">
                <a:latin typeface="Cambria"/>
              </a:rPr>
              <a:t>: </a:t>
            </a:r>
            <a:r>
              <a:rPr lang="en-US" sz="2200" err="1">
                <a:latin typeface="Cambria"/>
              </a:rPr>
              <a:t>FastAPI</a:t>
            </a:r>
            <a:r>
              <a:rPr lang="en-US" sz="2200">
                <a:latin typeface="Cambria"/>
              </a:rPr>
              <a:t> - lightweight, high-performance Python framework.</a:t>
            </a:r>
            <a:endParaRPr lang="en-US">
              <a:latin typeface="Cambria"/>
            </a:endParaRPr>
          </a:p>
          <a:p>
            <a:pPr marL="285750" indent="-285750"/>
            <a:r>
              <a:rPr lang="en-US" sz="2200" b="1">
                <a:latin typeface="Cambria"/>
              </a:rPr>
              <a:t>NLP Models</a:t>
            </a:r>
            <a:r>
              <a:rPr lang="en-US" sz="2200">
                <a:latin typeface="Cambria"/>
              </a:rPr>
              <a:t>: Uses simple sentiment analysis and rule-based logic - no heavy GPU required.</a:t>
            </a:r>
            <a:endParaRPr lang="en-US">
              <a:latin typeface="Cambria"/>
            </a:endParaRPr>
          </a:p>
          <a:p>
            <a:pPr marL="285750" indent="-285750"/>
            <a:r>
              <a:rPr lang="en-US" sz="2200" b="1">
                <a:latin typeface="Cambria"/>
              </a:rPr>
              <a:t>Database</a:t>
            </a:r>
            <a:r>
              <a:rPr lang="en-US" sz="2200">
                <a:latin typeface="Cambria"/>
              </a:rPr>
              <a:t>: SQLite - lightweight, file-based, easy to integrate.</a:t>
            </a:r>
            <a:endParaRPr lang="en-US">
              <a:latin typeface="Cambria"/>
            </a:endParaRPr>
          </a:p>
          <a:p>
            <a:pPr marL="285750" indent="-285750"/>
            <a:r>
              <a:rPr lang="en-US" sz="2200" b="1">
                <a:latin typeface="Cambria"/>
              </a:rPr>
              <a:t>Hosting</a:t>
            </a:r>
            <a:r>
              <a:rPr lang="en-US" sz="2200">
                <a:latin typeface="Cambria"/>
              </a:rPr>
              <a:t>: Can run on any cloud platform (Render, Railway, Azure).</a:t>
            </a:r>
            <a:br>
              <a:rPr lang="en-US" sz="2200">
                <a:latin typeface="Cambria"/>
              </a:rPr>
            </a:br>
            <a:r>
              <a:rPr lang="en-US" sz="2200">
                <a:latin typeface="Cambria"/>
              </a:rPr>
              <a:t> - </a:t>
            </a:r>
            <a:r>
              <a:rPr lang="en-US" sz="2200" b="1">
                <a:latin typeface="Cambria"/>
              </a:rPr>
              <a:t>Conclusion:</a:t>
            </a:r>
            <a:r>
              <a:rPr lang="en-US" sz="2200">
                <a:latin typeface="Cambria"/>
              </a:rPr>
              <a:t> All required tools are open-source and beginner-friendly, making technical implementation fully feasible.</a:t>
            </a:r>
            <a:endParaRPr lang="en-US">
              <a:latin typeface="Cambria"/>
            </a:endParaRPr>
          </a:p>
          <a:p>
            <a:pPr>
              <a:buNone/>
            </a:pPr>
            <a:r>
              <a:rPr lang="en-US" sz="2200" b="1">
                <a:latin typeface="Cambria"/>
              </a:rPr>
              <a:t>2. Operational Feasibility</a:t>
            </a:r>
            <a:endParaRPr lang="en-US">
              <a:latin typeface="Cambria"/>
            </a:endParaRPr>
          </a:p>
          <a:p>
            <a:pPr marL="285750" indent="-285750"/>
            <a:r>
              <a:rPr lang="en-US" sz="2200">
                <a:latin typeface="Cambria"/>
              </a:rPr>
              <a:t>Users can easily interact with the chatbot-style UI.</a:t>
            </a:r>
            <a:endParaRPr lang="en-US">
              <a:latin typeface="Cambria"/>
            </a:endParaRPr>
          </a:p>
          <a:p>
            <a:pPr marL="285750" indent="-285750"/>
            <a:r>
              <a:rPr lang="en-US" sz="2200">
                <a:latin typeface="Cambria"/>
              </a:rPr>
              <a:t>No complicated onboarding or training required.</a:t>
            </a:r>
            <a:endParaRPr lang="en-US">
              <a:latin typeface="Cambria"/>
            </a:endParaRPr>
          </a:p>
          <a:p>
            <a:pPr marL="285750" indent="-285750"/>
            <a:r>
              <a:rPr lang="en-US" sz="2200">
                <a:latin typeface="Cambria"/>
              </a:rPr>
              <a:t>MAITRI provides instant emotional support, which improves the likelihood of regular usage.</a:t>
            </a:r>
            <a:br>
              <a:rPr lang="en-US" sz="2200">
                <a:latin typeface="Cambria"/>
              </a:rPr>
            </a:br>
            <a:r>
              <a:rPr lang="en-US" sz="2200">
                <a:latin typeface="Cambria"/>
              </a:rPr>
              <a:t> - </a:t>
            </a:r>
            <a:r>
              <a:rPr lang="en-US" sz="2200" b="1">
                <a:latin typeface="Cambria"/>
              </a:rPr>
              <a:t>Conclusion:</a:t>
            </a:r>
            <a:r>
              <a:rPr lang="en-US" sz="2200">
                <a:latin typeface="Cambria"/>
              </a:rPr>
              <a:t> The system is simple to use, making operational feasibility high.</a:t>
            </a:r>
            <a:endParaRPr lang="en-US">
              <a:latin typeface="Cambria"/>
            </a:endParaRPr>
          </a:p>
          <a:p>
            <a:pPr>
              <a:buNone/>
            </a:pPr>
            <a:r>
              <a:rPr lang="en-US" sz="2200" b="1">
                <a:latin typeface="Cambria"/>
              </a:rPr>
              <a:t>3. Economic Feasibility</a:t>
            </a:r>
            <a:endParaRPr lang="en-US">
              <a:latin typeface="Cambria"/>
            </a:endParaRPr>
          </a:p>
          <a:p>
            <a:pPr marL="285750" indent="-285750"/>
            <a:r>
              <a:rPr lang="en-US" sz="2200">
                <a:latin typeface="Cambria"/>
              </a:rPr>
              <a:t>Uses open-source tools (React, </a:t>
            </a:r>
            <a:r>
              <a:rPr lang="en-US" sz="2200" err="1">
                <a:latin typeface="Cambria"/>
              </a:rPr>
              <a:t>FastAPI</a:t>
            </a:r>
            <a:r>
              <a:rPr lang="en-US" sz="2200">
                <a:latin typeface="Cambria"/>
              </a:rPr>
              <a:t>, Python, Tailwind).</a:t>
            </a:r>
            <a:endParaRPr lang="en-US">
              <a:latin typeface="Cambria"/>
            </a:endParaRPr>
          </a:p>
          <a:p>
            <a:pPr marL="285750" indent="-285750"/>
            <a:r>
              <a:rPr lang="en-US" sz="2200">
                <a:latin typeface="Cambria"/>
              </a:rPr>
              <a:t>No paid APIs or external services required for baseline functionality.</a:t>
            </a:r>
            <a:endParaRPr lang="en-US">
              <a:latin typeface="Cambria"/>
            </a:endParaRPr>
          </a:p>
          <a:p>
            <a:pPr marL="285750" indent="-285750"/>
            <a:r>
              <a:rPr lang="en-US" sz="2200">
                <a:latin typeface="Cambria"/>
              </a:rPr>
              <a:t>Hosting cost is minimal - can be deployed on free/low-cost cloud tiers.</a:t>
            </a:r>
            <a:br>
              <a:rPr lang="en-US" sz="2200">
                <a:latin typeface="Cambria"/>
              </a:rPr>
            </a:br>
            <a:r>
              <a:rPr lang="en-US" sz="2200">
                <a:latin typeface="Cambria"/>
              </a:rPr>
              <a:t> - </a:t>
            </a:r>
            <a:r>
              <a:rPr lang="en-US" sz="2200" b="1">
                <a:latin typeface="Cambria"/>
              </a:rPr>
              <a:t>Conclusion:</a:t>
            </a:r>
            <a:r>
              <a:rPr lang="en-US" sz="2200">
                <a:latin typeface="Cambria"/>
              </a:rPr>
              <a:t> Cost of development and maintenance is extremely low → economically feasible.</a:t>
            </a:r>
            <a:endParaRPr lang="en-US">
              <a:latin typeface="Cambria"/>
            </a:endParaRPr>
          </a:p>
          <a:p>
            <a:pPr>
              <a:buNone/>
            </a:pPr>
            <a:endParaRPr lang="en-US" sz="2200" b="1">
              <a:latin typeface="Cambr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/>
              </a:rPr>
              <a:t>Proposed Method &amp; Feasibility Study</a:t>
            </a:r>
            <a:r>
              <a:rPr lang="en-US" dirty="0">
                <a:latin typeface="Cambria"/>
                <a:ea typeface="Cambria"/>
              </a:rPr>
              <a:t>(contd...)</a:t>
            </a:r>
            <a:endParaRPr lang="en-US" dirty="0">
              <a:latin typeface="Cambri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sz="2200" b="1" dirty="0">
                <a:latin typeface="Cambria"/>
              </a:rPr>
              <a:t>4. Schedule Feasibility</a:t>
            </a:r>
            <a:endParaRPr lang="en-US" dirty="0">
              <a:latin typeface="Cambria"/>
            </a:endParaRPr>
          </a:p>
          <a:p>
            <a:pPr>
              <a:buNone/>
            </a:pPr>
            <a:r>
              <a:rPr lang="en-US" sz="2200" dirty="0">
                <a:latin typeface="Cambria"/>
              </a:rPr>
              <a:t>The project modules can be completed within the academic timeline:</a:t>
            </a:r>
            <a:endParaRPr lang="en-US" dirty="0">
              <a:latin typeface="Cambria"/>
            </a:endParaRPr>
          </a:p>
          <a:p>
            <a:pPr>
              <a:buNone/>
            </a:pPr>
            <a:endParaRPr lang="en-US" sz="2200">
              <a:latin typeface="Cambria"/>
            </a:endParaRPr>
          </a:p>
          <a:p>
            <a:pPr>
              <a:buNone/>
            </a:pPr>
            <a:endParaRPr lang="en-US" sz="2200">
              <a:latin typeface="Cambria"/>
            </a:endParaRPr>
          </a:p>
          <a:p>
            <a:pPr>
              <a:buNone/>
            </a:pPr>
            <a:endParaRPr lang="en-US" sz="2200">
              <a:latin typeface="Cambria"/>
            </a:endParaRPr>
          </a:p>
          <a:p>
            <a:pPr>
              <a:buNone/>
            </a:pPr>
            <a:endParaRPr lang="en-US" sz="2200">
              <a:latin typeface="Cambria"/>
            </a:endParaRPr>
          </a:p>
          <a:p>
            <a:pPr marL="76200" indent="0">
              <a:buNone/>
            </a:pPr>
            <a:endParaRPr lang="en-US" sz="2200" b="1">
              <a:latin typeface="Cambria"/>
            </a:endParaRPr>
          </a:p>
          <a:p>
            <a:pPr marL="76200" indent="0">
              <a:buNone/>
            </a:pPr>
            <a:endParaRPr lang="en-US" sz="2200" b="1">
              <a:latin typeface="Cambria"/>
            </a:endParaRPr>
          </a:p>
          <a:p>
            <a:pPr marL="76200" indent="0">
              <a:buNone/>
            </a:pPr>
            <a:endParaRPr lang="en-US" sz="2200" b="1">
              <a:latin typeface="Cambria"/>
            </a:endParaRPr>
          </a:p>
          <a:p>
            <a:pPr marL="76200" indent="0">
              <a:buNone/>
            </a:pPr>
            <a:endParaRPr lang="en-US" sz="2200" b="1">
              <a:latin typeface="Cambria"/>
            </a:endParaRPr>
          </a:p>
          <a:p>
            <a:pPr marL="76200" indent="0">
              <a:buNone/>
            </a:pPr>
            <a:endParaRPr lang="en-US" sz="2200" b="1">
              <a:latin typeface="Cambria"/>
            </a:endParaRPr>
          </a:p>
          <a:p>
            <a:pPr marL="76200" indent="0">
              <a:buNone/>
            </a:pPr>
            <a:r>
              <a:rPr lang="en-US" sz="2200" b="1" dirty="0">
                <a:latin typeface="Cambria"/>
              </a:rPr>
              <a:t>Conclusion:</a:t>
            </a:r>
            <a:r>
              <a:rPr lang="en-US" sz="2200" dirty="0">
                <a:latin typeface="Cambria"/>
              </a:rPr>
              <a:t> The project can be fully completed before final review.</a:t>
            </a:r>
          </a:p>
          <a:p>
            <a:pPr marL="76200" indent="0">
              <a:buNone/>
            </a:pPr>
            <a:endParaRPr lang="en-US" sz="2200">
              <a:latin typeface="Cambria"/>
            </a:endParaRPr>
          </a:p>
          <a:p>
            <a:pPr>
              <a:buNone/>
            </a:pPr>
            <a:r>
              <a:rPr lang="en-US" b="1" dirty="0">
                <a:latin typeface="Cambria"/>
              </a:rPr>
              <a:t>5. Future Feasibility</a:t>
            </a:r>
            <a:endParaRPr lang="en-US" dirty="0">
              <a:latin typeface="Cambria"/>
            </a:endParaRPr>
          </a:p>
          <a:p>
            <a:pPr marL="285750" indent="-285750"/>
            <a:r>
              <a:rPr lang="en-US" sz="2200" dirty="0">
                <a:latin typeface="Cambria"/>
              </a:rPr>
              <a:t>Can scale with more features:</a:t>
            </a:r>
            <a:endParaRPr lang="en-US" dirty="0">
              <a:latin typeface="Cambria"/>
            </a:endParaRPr>
          </a:p>
          <a:p>
            <a:pPr lvl="1"/>
            <a:r>
              <a:rPr lang="en-US" sz="1800" dirty="0">
                <a:latin typeface="Cambria"/>
              </a:rPr>
              <a:t>Deep-learning based sentiment models</a:t>
            </a:r>
          </a:p>
          <a:p>
            <a:pPr lvl="1"/>
            <a:r>
              <a:rPr lang="en-US" sz="1800" dirty="0">
                <a:latin typeface="Cambria"/>
              </a:rPr>
              <a:t>Cloud deployment</a:t>
            </a:r>
          </a:p>
          <a:p>
            <a:pPr lvl="1"/>
            <a:r>
              <a:rPr lang="en-US" sz="1800" dirty="0">
                <a:latin typeface="Cambria"/>
              </a:rPr>
              <a:t>Voice input</a:t>
            </a:r>
          </a:p>
          <a:p>
            <a:pPr lvl="1"/>
            <a:r>
              <a:rPr lang="en-US" sz="1800" dirty="0">
                <a:latin typeface="Cambria"/>
              </a:rPr>
              <a:t>Personalized insights</a:t>
            </a:r>
          </a:p>
          <a:p>
            <a:pPr marL="0" indent="0">
              <a:buNone/>
            </a:pPr>
            <a:r>
              <a:rPr lang="en-US" sz="2200" b="1" dirty="0">
                <a:latin typeface="Cambria"/>
              </a:rPr>
              <a:t>Conclusion</a:t>
            </a:r>
            <a:r>
              <a:rPr lang="en-US" sz="2200" dirty="0">
                <a:latin typeface="Cambria"/>
              </a:rPr>
              <a:t>: High potential for future expansion.</a:t>
            </a:r>
            <a:endParaRPr lang="en-US" dirty="0">
              <a:latin typeface="Cambria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065154" y="1762392"/>
          <a:ext cx="816864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22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2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2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latin typeface="Cambria"/>
                        </a:rPr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latin typeface="Cambria"/>
                        </a:rPr>
                        <a:t>TIMELINE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latin typeface="Cambria"/>
                        </a:rPr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latin typeface="Cambria"/>
                        </a:rPr>
                        <a:t>Frontend 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mbria"/>
                        </a:rPr>
                        <a:t>1-2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mbria"/>
                        </a:rPr>
                        <a:t>Done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latin typeface="Cambria"/>
                        </a:rPr>
                        <a:t>Backend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mbria"/>
                        </a:rPr>
                        <a:t>1 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mbria"/>
                        </a:rPr>
                        <a:t>Done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latin typeface="Cambria"/>
                        </a:rPr>
                        <a:t>NLP + Risk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mbria"/>
                        </a:rPr>
                        <a:t>1-2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mbria"/>
                        </a:rPr>
                        <a:t>Done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latin typeface="Cambria"/>
                        </a:rPr>
                        <a:t>Integration &amp; 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mbria"/>
                        </a:rPr>
                        <a:t>1 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mbria"/>
                        </a:rPr>
                        <a:t>Done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/>
              </a:rPr>
              <a:t>Architecture Diagram</a:t>
            </a:r>
          </a:p>
        </p:txBody>
      </p:sp>
      <p:pic>
        <p:nvPicPr>
          <p:cNvPr id="5" name="Picture 4" descr="A diagram of a computer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3245" y="0"/>
            <a:ext cx="5516419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2435" y="2231311"/>
            <a:ext cx="5071492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3600" b="1">
                <a:latin typeface="Cambria"/>
                <a:ea typeface="Cambria"/>
              </a:rPr>
              <a:t>MAITRI – System Architecture</a:t>
            </a: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/>
              </a:rPr>
              <a:t>Modules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0" y="1048594"/>
            <a:ext cx="5124956" cy="5431778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b="1">
                <a:latin typeface="Cambria"/>
              </a:rPr>
              <a:t>User Authentication Module</a:t>
            </a:r>
            <a:endParaRPr lang="en-US">
              <a:latin typeface="Cambria"/>
            </a:endParaRPr>
          </a:p>
          <a:p>
            <a:pPr marL="285750" indent="-285750"/>
            <a:r>
              <a:rPr lang="en-US">
                <a:latin typeface="Cambria"/>
              </a:rPr>
              <a:t>User Registration</a:t>
            </a:r>
          </a:p>
          <a:p>
            <a:pPr marL="285750" indent="-285750"/>
            <a:r>
              <a:rPr lang="en-US">
                <a:latin typeface="Cambria"/>
              </a:rPr>
              <a:t>User Login</a:t>
            </a:r>
          </a:p>
          <a:p>
            <a:pPr marL="285750" indent="-285750"/>
            <a:r>
              <a:rPr lang="en-US">
                <a:latin typeface="Cambria"/>
              </a:rPr>
              <a:t>Password reset</a:t>
            </a:r>
          </a:p>
          <a:p>
            <a:pPr marL="285750" indent="-285750"/>
            <a:r>
              <a:rPr lang="en-US">
                <a:latin typeface="Cambria"/>
              </a:rPr>
              <a:t>Secure token-based session handling</a:t>
            </a:r>
            <a:br>
              <a:rPr lang="en-US">
                <a:latin typeface="Cambria"/>
              </a:rPr>
            </a:br>
            <a:endParaRPr lang="en-US">
              <a:latin typeface="Cambria"/>
            </a:endParaRPr>
          </a:p>
          <a:p>
            <a:pPr>
              <a:buNone/>
            </a:pPr>
            <a:r>
              <a:rPr lang="en-US" b="1">
                <a:latin typeface="Cambria"/>
              </a:rPr>
              <a:t> Mood Tracking Module</a:t>
            </a:r>
            <a:endParaRPr lang="en-US">
              <a:latin typeface="Cambria"/>
            </a:endParaRPr>
          </a:p>
          <a:p>
            <a:pPr marL="285750" indent="-285750"/>
            <a:r>
              <a:rPr lang="en-US">
                <a:latin typeface="Cambria"/>
              </a:rPr>
              <a:t>Daily mood input (emoji/text)</a:t>
            </a:r>
          </a:p>
          <a:p>
            <a:pPr marL="285750" indent="-285750"/>
            <a:r>
              <a:rPr lang="en-US">
                <a:latin typeface="Cambria"/>
              </a:rPr>
              <a:t>Store mood history</a:t>
            </a:r>
          </a:p>
          <a:p>
            <a:pPr marL="285750" indent="-285750"/>
            <a:r>
              <a:rPr lang="en-US">
                <a:latin typeface="Cambria"/>
              </a:rPr>
              <a:t>View past trends</a:t>
            </a:r>
            <a:br>
              <a:rPr lang="en-US">
                <a:latin typeface="Cambria"/>
              </a:rPr>
            </a:br>
            <a:endParaRPr lang="en-US">
              <a:latin typeface="Cambria"/>
            </a:endParaRPr>
          </a:p>
          <a:p>
            <a:pPr>
              <a:buNone/>
            </a:pPr>
            <a:r>
              <a:rPr lang="en-US" b="1">
                <a:latin typeface="Cambria"/>
              </a:rPr>
              <a:t> </a:t>
            </a:r>
            <a:endParaRPr lang="en-US">
              <a:latin typeface="Cambria"/>
            </a:endParaRPr>
          </a:p>
          <a:p>
            <a:pPr marL="76200" indent="0">
              <a:buNone/>
            </a:pPr>
            <a:endParaRPr lang="en-US">
              <a:latin typeface="Cambria"/>
            </a:endParaRPr>
          </a:p>
        </p:txBody>
      </p:sp>
      <p:sp>
        <p:nvSpPr>
          <p:cNvPr id="7" name="Text Placeholder 2"/>
          <p:cNvSpPr txBox="1"/>
          <p:nvPr/>
        </p:nvSpPr>
        <p:spPr>
          <a:xfrm>
            <a:off x="6589165" y="1045897"/>
            <a:ext cx="5475610" cy="5431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>
              <a:buNone/>
            </a:pPr>
            <a:r>
              <a:rPr lang="en-US" b="1">
                <a:latin typeface="Cambria"/>
              </a:rPr>
              <a:t> AI Mental Health Assistant Module</a:t>
            </a:r>
            <a:endParaRPr lang="en-US">
              <a:latin typeface="Cambria"/>
            </a:endParaRPr>
          </a:p>
          <a:p>
            <a:pPr marL="285750" indent="-285750"/>
            <a:r>
              <a:rPr lang="en-US">
                <a:latin typeface="Cambria"/>
              </a:rPr>
              <a:t>Chat interface</a:t>
            </a:r>
          </a:p>
          <a:p>
            <a:pPr marL="285750" indent="-285750"/>
            <a:r>
              <a:rPr lang="en-US">
                <a:latin typeface="Cambria"/>
              </a:rPr>
              <a:t>AI-generated responses</a:t>
            </a:r>
          </a:p>
          <a:p>
            <a:pPr marL="285750" indent="-285750"/>
            <a:r>
              <a:rPr lang="en-US">
                <a:latin typeface="Cambria"/>
              </a:rPr>
              <a:t>Context-based conversation</a:t>
            </a:r>
          </a:p>
          <a:p>
            <a:pPr marL="285750" indent="-285750"/>
            <a:r>
              <a:rPr lang="en-US">
                <a:latin typeface="Cambria"/>
              </a:rPr>
              <a:t>Emotion-aware feedback</a:t>
            </a:r>
            <a:br>
              <a:rPr lang="en-US">
                <a:latin typeface="Cambria"/>
              </a:rPr>
            </a:br>
            <a:endParaRPr lang="en-US">
              <a:latin typeface="Cambria"/>
            </a:endParaRPr>
          </a:p>
          <a:p>
            <a:pPr>
              <a:buNone/>
            </a:pPr>
            <a:r>
              <a:rPr lang="en-US" b="1">
                <a:latin typeface="Cambria"/>
              </a:rPr>
              <a:t> Journal &amp; Notes Module</a:t>
            </a:r>
            <a:endParaRPr lang="en-US">
              <a:latin typeface="Cambria"/>
            </a:endParaRPr>
          </a:p>
          <a:p>
            <a:pPr marL="285750" indent="-285750"/>
            <a:r>
              <a:rPr lang="en-US">
                <a:latin typeface="Cambria"/>
              </a:rPr>
              <a:t>Add personal journal entries</a:t>
            </a:r>
          </a:p>
          <a:p>
            <a:pPr marL="285750" indent="-285750"/>
            <a:r>
              <a:rPr lang="en-US">
                <a:latin typeface="Cambria"/>
              </a:rPr>
              <a:t>Edit / Delete entries</a:t>
            </a:r>
          </a:p>
          <a:p>
            <a:pPr marL="285750" indent="-285750"/>
            <a:r>
              <a:rPr lang="en-US">
                <a:latin typeface="Cambria"/>
              </a:rPr>
              <a:t>View journal history</a:t>
            </a:r>
          </a:p>
          <a:p>
            <a:pPr>
              <a:buFont typeface="Arial" panose="020B0604020202020204"/>
              <a:buNone/>
            </a:pPr>
            <a:endParaRPr lang="en-US" b="1">
              <a:latin typeface="Cambri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/>
              </a:rPr>
              <a:t>Modules</a:t>
            </a:r>
            <a:r>
              <a:rPr lang="en-US" dirty="0">
                <a:latin typeface="Cambria"/>
                <a:ea typeface="Cambria"/>
              </a:rPr>
              <a:t>(contd...)</a:t>
            </a:r>
            <a:endParaRPr lang="en-US" dirty="0">
              <a:latin typeface="Cambri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0" y="1048594"/>
            <a:ext cx="5124956" cy="543177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>
                <a:latin typeface="Cambria"/>
                <a:ea typeface="Cambria"/>
              </a:rPr>
              <a:t>Crisis Support Module</a:t>
            </a:r>
            <a:endParaRPr lang="en-US">
              <a:latin typeface="Cambria"/>
              <a:ea typeface="Cambria"/>
            </a:endParaRPr>
          </a:p>
          <a:p>
            <a:pPr marL="285750" indent="-285750"/>
            <a:r>
              <a:rPr lang="en-US">
                <a:latin typeface="Cambria"/>
                <a:ea typeface="Cambria"/>
              </a:rPr>
              <a:t>SOS helplines</a:t>
            </a:r>
          </a:p>
          <a:p>
            <a:pPr marL="285750" indent="-285750"/>
            <a:r>
              <a:rPr lang="en-US">
                <a:latin typeface="Cambria"/>
                <a:ea typeface="Cambria"/>
              </a:rPr>
              <a:t>Emergency contact list</a:t>
            </a:r>
          </a:p>
          <a:p>
            <a:pPr marL="285750" indent="-285750"/>
            <a:r>
              <a:rPr lang="en-US">
                <a:latin typeface="Cambria"/>
                <a:ea typeface="Cambria"/>
              </a:rPr>
              <a:t>Quick-access support resources</a:t>
            </a:r>
          </a:p>
          <a:p>
            <a:pPr>
              <a:buNone/>
            </a:pPr>
            <a:endParaRPr lang="en-US" b="1">
              <a:latin typeface="Cambria"/>
            </a:endParaRPr>
          </a:p>
          <a:p>
            <a:pPr>
              <a:buNone/>
            </a:pPr>
            <a:r>
              <a:rPr lang="en-US" b="1">
                <a:latin typeface="Cambria"/>
              </a:rPr>
              <a:t>Personalized Recommendation Module</a:t>
            </a:r>
            <a:endParaRPr lang="en-US">
              <a:latin typeface="Cambria"/>
            </a:endParaRPr>
          </a:p>
          <a:p>
            <a:pPr marL="285750" indent="-285750"/>
            <a:r>
              <a:rPr lang="en-US">
                <a:latin typeface="Cambria"/>
              </a:rPr>
              <a:t>Mental wellness tips</a:t>
            </a:r>
          </a:p>
          <a:p>
            <a:pPr marL="285750" indent="-285750"/>
            <a:r>
              <a:rPr lang="en-US">
                <a:latin typeface="Cambria"/>
              </a:rPr>
              <a:t>Breathing exercises</a:t>
            </a:r>
          </a:p>
          <a:p>
            <a:pPr marL="285750" indent="-285750"/>
            <a:r>
              <a:rPr lang="en-US">
                <a:latin typeface="Cambria"/>
              </a:rPr>
              <a:t>Quotes / Affirmations</a:t>
            </a:r>
          </a:p>
          <a:p>
            <a:pPr marL="285750" indent="-285750"/>
            <a:r>
              <a:rPr lang="en-US">
                <a:latin typeface="Cambria"/>
              </a:rPr>
              <a:t>Recommendations based on mood patterns</a:t>
            </a:r>
          </a:p>
        </p:txBody>
      </p:sp>
      <p:sp>
        <p:nvSpPr>
          <p:cNvPr id="7" name="Text Placeholder 2"/>
          <p:cNvSpPr txBox="1"/>
          <p:nvPr/>
        </p:nvSpPr>
        <p:spPr>
          <a:xfrm>
            <a:off x="6589165" y="1045897"/>
            <a:ext cx="5475610" cy="5431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>
              <a:buNone/>
            </a:pPr>
            <a:r>
              <a:rPr lang="en-US" b="1">
                <a:latin typeface="Cambria"/>
              </a:rPr>
              <a:t>Notification &amp; Reminder Module</a:t>
            </a:r>
            <a:endParaRPr lang="en-US">
              <a:latin typeface="Cambria"/>
            </a:endParaRPr>
          </a:p>
          <a:p>
            <a:pPr marL="285750" indent="-285750"/>
            <a:r>
              <a:rPr lang="en-US">
                <a:latin typeface="Cambria"/>
              </a:rPr>
              <a:t>Daily mood check-in reminder</a:t>
            </a:r>
          </a:p>
          <a:p>
            <a:pPr marL="285750" indent="-285750"/>
            <a:r>
              <a:rPr lang="en-US">
                <a:latin typeface="Cambria"/>
              </a:rPr>
              <a:t>Journaling reminder</a:t>
            </a:r>
          </a:p>
          <a:p>
            <a:pPr marL="285750" indent="-285750"/>
            <a:r>
              <a:rPr lang="en-US">
                <a:latin typeface="Cambria"/>
              </a:rPr>
              <a:t>Wellness practice reminder </a:t>
            </a:r>
            <a:br>
              <a:rPr lang="en-US">
                <a:latin typeface="Cambria"/>
              </a:rPr>
            </a:br>
            <a:endParaRPr lang="en-US">
              <a:latin typeface="Cambria"/>
            </a:endParaRPr>
          </a:p>
          <a:p>
            <a:pPr>
              <a:buNone/>
            </a:pPr>
            <a:r>
              <a:rPr lang="en-US" b="1">
                <a:latin typeface="Cambria"/>
              </a:rPr>
              <a:t> Admin Dashboard</a:t>
            </a:r>
          </a:p>
          <a:p>
            <a:pPr marL="285750" indent="-285750"/>
            <a:r>
              <a:rPr lang="en-US">
                <a:latin typeface="Cambria"/>
              </a:rPr>
              <a:t>View system usage</a:t>
            </a:r>
          </a:p>
          <a:p>
            <a:pPr marL="285750" indent="-285750"/>
            <a:r>
              <a:rPr lang="en-US">
                <a:latin typeface="Cambria"/>
              </a:rPr>
              <a:t>Manage user feedback</a:t>
            </a:r>
          </a:p>
          <a:p>
            <a:pPr marL="285750" indent="-285750"/>
            <a:r>
              <a:rPr lang="en-US">
                <a:latin typeface="Cambria"/>
              </a:rPr>
              <a:t>Basic analytics</a:t>
            </a:r>
          </a:p>
          <a:p>
            <a:pPr>
              <a:buFont typeface="Arial" panose="020B0604020202020204"/>
              <a:buNone/>
            </a:pPr>
            <a:endParaRPr lang="en-US" b="1">
              <a:latin typeface="Cambri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/>
              </a:rPr>
              <a:t>Hardware and Software Details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5000" lnSpcReduction="20000"/>
          </a:bodyPr>
          <a:lstStyle/>
          <a:p>
            <a:pPr marL="76200" indent="0">
              <a:buNone/>
            </a:pPr>
            <a:r>
              <a:rPr lang="en-US" b="1">
                <a:latin typeface="Cambria"/>
              </a:rPr>
              <a:t>HARDWARE REQUIREMENTS</a:t>
            </a:r>
          </a:p>
          <a:p>
            <a:r>
              <a:rPr lang="en-US" sz="1800" b="1">
                <a:latin typeface="Cambria"/>
              </a:rPr>
              <a:t>Processor:</a:t>
            </a:r>
            <a:r>
              <a:rPr lang="en-US" sz="1800">
                <a:latin typeface="Cambria"/>
              </a:rPr>
              <a:t> Intel Core i5</a:t>
            </a:r>
          </a:p>
          <a:p>
            <a:r>
              <a:rPr lang="en-US" sz="1800" b="1">
                <a:latin typeface="Cambria"/>
              </a:rPr>
              <a:t>RAM:</a:t>
            </a:r>
            <a:r>
              <a:rPr lang="en-US" sz="1800">
                <a:latin typeface="Cambria"/>
              </a:rPr>
              <a:t> 8 GB </a:t>
            </a:r>
          </a:p>
          <a:p>
            <a:r>
              <a:rPr lang="en-US" sz="1800" b="1">
                <a:latin typeface="Cambria"/>
              </a:rPr>
              <a:t>Storage:</a:t>
            </a:r>
            <a:r>
              <a:rPr lang="en-US" sz="1800">
                <a:latin typeface="Cambria"/>
              </a:rPr>
              <a:t> 20–30 GB free space</a:t>
            </a:r>
          </a:p>
          <a:p>
            <a:r>
              <a:rPr lang="en-US" sz="1800" b="1">
                <a:latin typeface="Cambria"/>
              </a:rPr>
              <a:t>Operating System:</a:t>
            </a:r>
            <a:r>
              <a:rPr lang="en-US" sz="1800">
                <a:latin typeface="Cambria"/>
              </a:rPr>
              <a:t> Windows 10/11, macOS, or Ubuntu Linux</a:t>
            </a:r>
          </a:p>
          <a:p>
            <a:r>
              <a:rPr lang="en-US" sz="1800" b="1">
                <a:latin typeface="Cambria"/>
              </a:rPr>
              <a:t>Display:</a:t>
            </a:r>
            <a:r>
              <a:rPr lang="en-US" sz="1800">
                <a:latin typeface="Cambria"/>
              </a:rPr>
              <a:t> 1080p resolution</a:t>
            </a:r>
          </a:p>
          <a:p>
            <a:pPr marL="76200" indent="0">
              <a:buNone/>
            </a:pPr>
            <a:r>
              <a:rPr lang="en-US" b="1">
                <a:latin typeface="Cambria"/>
              </a:rPr>
              <a:t>SOFTWARE REQUIREMENTS</a:t>
            </a:r>
          </a:p>
          <a:p>
            <a:r>
              <a:rPr lang="en-US">
                <a:latin typeface="Cambria"/>
              </a:rPr>
              <a:t>Python 3.12 (Anaconda environment)</a:t>
            </a:r>
          </a:p>
          <a:p>
            <a:r>
              <a:rPr lang="en-US" dirty="0" err="1">
                <a:latin typeface="Cambria"/>
              </a:rPr>
              <a:t>FastAPI</a:t>
            </a:r>
            <a:r>
              <a:rPr lang="en-US" dirty="0">
                <a:latin typeface="Cambria"/>
              </a:rPr>
              <a:t> (backend framework)</a:t>
            </a:r>
          </a:p>
          <a:p>
            <a:r>
              <a:rPr lang="en-US">
                <a:latin typeface="Cambria"/>
              </a:rPr>
              <a:t>React.js 18 (frontend)</a:t>
            </a:r>
          </a:p>
          <a:p>
            <a:r>
              <a:rPr lang="en-US">
                <a:latin typeface="Cambria"/>
              </a:rPr>
              <a:t>SQLite + AES-256 encryption (database)</a:t>
            </a:r>
          </a:p>
          <a:p>
            <a:r>
              <a:rPr lang="en-US">
                <a:latin typeface="Cambria"/>
              </a:rPr>
              <a:t>scikit-learn (Random Forest classifier)</a:t>
            </a:r>
          </a:p>
          <a:p>
            <a:r>
              <a:rPr lang="en-US">
                <a:latin typeface="Cambria"/>
              </a:rPr>
              <a:t>neurokit2 (physiological feature extraction)</a:t>
            </a:r>
          </a:p>
          <a:p>
            <a:r>
              <a:rPr lang="en-US" dirty="0" err="1">
                <a:latin typeface="Cambria"/>
              </a:rPr>
              <a:t>MentalBERT</a:t>
            </a:r>
            <a:r>
              <a:rPr lang="en-US" dirty="0">
                <a:latin typeface="Cambria"/>
              </a:rPr>
              <a:t> via </a:t>
            </a:r>
            <a:r>
              <a:rPr lang="en-US" dirty="0" err="1">
                <a:latin typeface="Cambria"/>
              </a:rPr>
              <a:t>HuggingFace</a:t>
            </a:r>
            <a:r>
              <a:rPr lang="en-US" dirty="0">
                <a:latin typeface="Cambria"/>
              </a:rPr>
              <a:t> (NLP model)</a:t>
            </a:r>
          </a:p>
          <a:p>
            <a:r>
              <a:rPr lang="en-US" dirty="0">
                <a:latin typeface="Cambria"/>
              </a:rPr>
              <a:t>FAISS + Llama 3 7B via </a:t>
            </a:r>
            <a:r>
              <a:rPr lang="en-US" dirty="0" err="1">
                <a:latin typeface="Cambria"/>
              </a:rPr>
              <a:t>Ollama</a:t>
            </a:r>
            <a:r>
              <a:rPr lang="en-US" dirty="0">
                <a:latin typeface="Cambria"/>
              </a:rPr>
              <a:t> (RAG pipeline)</a:t>
            </a:r>
          </a:p>
          <a:p>
            <a:r>
              <a:rPr lang="en-US" dirty="0">
                <a:latin typeface="Cambria"/>
              </a:rPr>
              <a:t>SHAP </a:t>
            </a:r>
            <a:r>
              <a:rPr lang="en-US" dirty="0" err="1">
                <a:latin typeface="Cambria"/>
              </a:rPr>
              <a:t>TreeExplainer</a:t>
            </a:r>
            <a:r>
              <a:rPr lang="en-US" dirty="0">
                <a:latin typeface="Cambria"/>
              </a:rPr>
              <a:t> (explainability)</a:t>
            </a:r>
          </a:p>
          <a:p>
            <a:r>
              <a:rPr lang="en-US">
                <a:latin typeface="Cambria"/>
              </a:rPr>
              <a:t>WESAD dataset (UCI ML Repository)</a:t>
            </a:r>
          </a:p>
          <a:p>
            <a:r>
              <a:rPr lang="en-US">
                <a:latin typeface="Cambria"/>
              </a:rPr>
              <a:t>VS Code + GitHub (development tools)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mbria"/>
                <a:ea typeface="Cambria"/>
              </a:rPr>
              <a:t>Advantages of Proposed System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0000" lnSpcReduction="10000"/>
          </a:bodyPr>
          <a:lstStyle/>
          <a:p>
            <a:r>
              <a:rPr lang="en-US">
                <a:latin typeface="Cambria"/>
                <a:ea typeface="Cambria"/>
              </a:rPr>
              <a:t>Fully Autonomous — Operates without internet or Earth connectivity, suitable for deep-space communication blackouts of 44+ minutes</a:t>
            </a:r>
            <a:endParaRPr lang="en-US" dirty="0">
              <a:latin typeface="Cambria"/>
              <a:ea typeface="Cambria"/>
            </a:endParaRPr>
          </a:p>
          <a:p>
            <a:r>
              <a:rPr lang="en-US" dirty="0">
                <a:latin typeface="Cambria"/>
                <a:ea typeface="Cambria"/>
              </a:rPr>
              <a:t>Multimodal — Combines physiological signals, text, voice, and facial expression for more accurate stress assessment than any single modality alone</a:t>
            </a:r>
          </a:p>
          <a:p>
            <a:r>
              <a:rPr lang="en-US" dirty="0">
                <a:latin typeface="Cambria"/>
                <a:ea typeface="Cambria"/>
              </a:rPr>
              <a:t>Explainable AI — SHAP </a:t>
            </a:r>
            <a:r>
              <a:rPr lang="en-US" dirty="0" err="1">
                <a:latin typeface="Cambria"/>
                <a:ea typeface="Cambria"/>
              </a:rPr>
              <a:t>TreeExplainer</a:t>
            </a:r>
            <a:r>
              <a:rPr lang="en-US" dirty="0">
                <a:latin typeface="Cambria"/>
                <a:ea typeface="Cambria"/>
              </a:rPr>
              <a:t> provides top-5 biomarker importance per prediction, enabling crew medical officers to validate or override every AI decision</a:t>
            </a:r>
          </a:p>
          <a:p>
            <a:r>
              <a:rPr lang="en-US" dirty="0">
                <a:latin typeface="Cambria"/>
                <a:ea typeface="Cambria"/>
              </a:rPr>
              <a:t>Evidence-Grounded — RAG pipeline grounds all responses in NASA HRP clinical guidelines, eliminating hallucination risk</a:t>
            </a:r>
          </a:p>
          <a:p>
            <a:r>
              <a:rPr lang="en-US">
                <a:latin typeface="Cambria"/>
                <a:ea typeface="Cambria"/>
              </a:rPr>
              <a:t>Privacy-First — AES-256 encryption on-device; no health data ever transmitted externally</a:t>
            </a:r>
            <a:endParaRPr lang="en-US" dirty="0">
              <a:latin typeface="Cambria"/>
              <a:ea typeface="Cambria"/>
            </a:endParaRPr>
          </a:p>
          <a:p>
            <a:r>
              <a:rPr lang="en-US" dirty="0" err="1">
                <a:latin typeface="Cambria"/>
                <a:ea typeface="Cambria"/>
              </a:rPr>
              <a:t>Personalised</a:t>
            </a:r>
            <a:r>
              <a:rPr lang="en-US" dirty="0">
                <a:latin typeface="Cambria"/>
                <a:ea typeface="Cambria"/>
              </a:rPr>
              <a:t> — Per-user rolling 50-sample baseline detects individual deviations, not just population-level thresholds</a:t>
            </a:r>
          </a:p>
          <a:p>
            <a:r>
              <a:rPr lang="en-US">
                <a:latin typeface="Cambria"/>
                <a:ea typeface="Cambria"/>
              </a:rPr>
              <a:t>Clinically Honest — LOSO cross-validation prevents data leakage; results reported with full per-class metrics and limitations disclosed</a:t>
            </a:r>
            <a:endParaRPr lang="en-US" dirty="0">
              <a:latin typeface="Cambria"/>
              <a:ea typeface="Cambri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mbria"/>
                <a:ea typeface="Cambria"/>
              </a:rPr>
              <a:t>Algorithms Used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>
                <a:latin typeface="Cambria"/>
                <a:ea typeface="Cambria"/>
              </a:rPr>
              <a:t>Random Forest Classifier</a:t>
            </a:r>
            <a:br>
              <a:rPr lang="en-US" b="1" dirty="0">
                <a:latin typeface="Cambria"/>
                <a:ea typeface="Cambria"/>
              </a:rPr>
            </a:br>
            <a:r>
              <a:rPr lang="en-US" b="1" dirty="0">
                <a:latin typeface="Cambria"/>
                <a:ea typeface="Cambria"/>
              </a:rPr>
              <a:t> </a:t>
            </a:r>
            <a:r>
              <a:rPr lang="en-US">
                <a:latin typeface="Cambria"/>
                <a:ea typeface="Cambria"/>
              </a:rPr>
              <a:t>Uses body signals (like heart rate, skin response) to detect stress</a:t>
            </a:r>
            <a:br>
              <a:rPr lang="en-US" dirty="0">
                <a:latin typeface="Cambria"/>
                <a:ea typeface="Cambria"/>
              </a:rPr>
            </a:br>
            <a:r>
              <a:rPr lang="en-US">
                <a:latin typeface="Cambria"/>
                <a:ea typeface="Cambria"/>
              </a:rPr>
              <a:t> ✔ Accuracy: ~82%</a:t>
            </a:r>
            <a:br>
              <a:rPr lang="en-US" dirty="0">
                <a:latin typeface="Cambria"/>
                <a:ea typeface="Cambria"/>
              </a:rPr>
            </a:br>
            <a:r>
              <a:rPr lang="en-US">
                <a:latin typeface="Cambria"/>
                <a:ea typeface="Cambria"/>
              </a:rPr>
              <a:t> ✔ Learns patterns from past data</a:t>
            </a:r>
            <a:endParaRPr lang="en-US" dirty="0">
              <a:latin typeface="Cambria"/>
              <a:ea typeface="Cambria"/>
            </a:endParaRPr>
          </a:p>
          <a:p>
            <a:r>
              <a:rPr lang="en-US" b="1" dirty="0">
                <a:latin typeface="Cambria"/>
                <a:ea typeface="Cambria"/>
              </a:rPr>
              <a:t>SHAP (</a:t>
            </a:r>
            <a:r>
              <a:rPr lang="en-US" b="1" dirty="0" err="1">
                <a:latin typeface="Cambria"/>
                <a:ea typeface="Cambria"/>
              </a:rPr>
              <a:t>TreeExplainer</a:t>
            </a:r>
            <a:r>
              <a:rPr lang="en-US" b="1" dirty="0">
                <a:latin typeface="Cambria"/>
                <a:ea typeface="Cambria"/>
              </a:rPr>
              <a:t>)</a:t>
            </a:r>
            <a:br>
              <a:rPr lang="en-US" b="1" dirty="0">
                <a:latin typeface="Cambria"/>
                <a:ea typeface="Cambria"/>
              </a:rPr>
            </a:br>
            <a:r>
              <a:rPr lang="en-US" dirty="0">
                <a:latin typeface="Cambria"/>
                <a:ea typeface="Cambria"/>
              </a:rPr>
              <a:t> Explains </a:t>
            </a:r>
            <a:r>
              <a:rPr lang="en-US" i="1" dirty="0">
                <a:latin typeface="Cambria"/>
                <a:ea typeface="Cambria"/>
              </a:rPr>
              <a:t>why</a:t>
            </a:r>
            <a:r>
              <a:rPr lang="en-US" dirty="0">
                <a:latin typeface="Cambria"/>
                <a:ea typeface="Cambria"/>
              </a:rPr>
              <a:t> the model predicted stress</a:t>
            </a:r>
            <a:br>
              <a:rPr lang="en-US" dirty="0">
                <a:latin typeface="Cambria"/>
                <a:ea typeface="Cambria"/>
              </a:rPr>
            </a:br>
            <a:r>
              <a:rPr lang="en-US" dirty="0">
                <a:latin typeface="Cambria"/>
                <a:ea typeface="Cambria"/>
              </a:rPr>
              <a:t> ✔ Shows top factors affecting stress</a:t>
            </a:r>
            <a:br>
              <a:rPr lang="en-US" dirty="0">
                <a:latin typeface="Cambria"/>
                <a:ea typeface="Cambria"/>
              </a:rPr>
            </a:br>
            <a:r>
              <a:rPr lang="en-US" dirty="0">
                <a:latin typeface="Cambria"/>
                <a:ea typeface="Cambria"/>
              </a:rPr>
              <a:t> ✔ Makes AI decisions transparent</a:t>
            </a:r>
          </a:p>
          <a:p>
            <a:r>
              <a:rPr lang="en-US" b="1" dirty="0" err="1">
                <a:latin typeface="Cambria"/>
                <a:ea typeface="Cambria"/>
              </a:rPr>
              <a:t>MentalBERT</a:t>
            </a:r>
            <a:br>
              <a:rPr lang="en-US" b="1" dirty="0">
                <a:latin typeface="Cambria"/>
                <a:ea typeface="Cambria"/>
              </a:rPr>
            </a:br>
            <a:r>
              <a:rPr lang="en-US" dirty="0">
                <a:latin typeface="Cambria"/>
                <a:ea typeface="Cambria"/>
              </a:rPr>
              <a:t> Understands emotions from user text</a:t>
            </a:r>
            <a:br>
              <a:rPr lang="en-US" dirty="0">
                <a:latin typeface="Cambria"/>
                <a:ea typeface="Cambria"/>
              </a:rPr>
            </a:br>
            <a:r>
              <a:rPr lang="en-US" dirty="0">
                <a:latin typeface="Cambria"/>
                <a:ea typeface="Cambria"/>
              </a:rPr>
              <a:t> ✔ Classifies into stress levels </a:t>
            </a:r>
          </a:p>
          <a:p>
            <a:r>
              <a:rPr lang="en-US" b="1">
                <a:latin typeface="Cambria"/>
                <a:ea typeface="Cambria"/>
              </a:rPr>
              <a:t>VADER (Backup)</a:t>
            </a:r>
            <a:br>
              <a:rPr lang="en-US" b="1" dirty="0">
                <a:latin typeface="Cambria"/>
                <a:ea typeface="Cambria"/>
              </a:rPr>
            </a:br>
            <a:r>
              <a:rPr lang="en-US" b="1" dirty="0">
                <a:latin typeface="Cambria"/>
                <a:ea typeface="Cambria"/>
              </a:rPr>
              <a:t> </a:t>
            </a:r>
            <a:r>
              <a:rPr lang="en-US">
                <a:latin typeface="Cambria"/>
                <a:ea typeface="Cambria"/>
              </a:rPr>
              <a:t>Used when main model is unsure</a:t>
            </a:r>
            <a:br>
              <a:rPr lang="en-US" dirty="0">
                <a:latin typeface="Cambria"/>
                <a:ea typeface="Cambria"/>
              </a:rPr>
            </a:br>
            <a:r>
              <a:rPr lang="en-US">
                <a:latin typeface="Cambria"/>
                <a:ea typeface="Cambria"/>
              </a:rPr>
              <a:t> ✔ Fast rule-based sentiment check</a:t>
            </a:r>
            <a:endParaRPr lang="en-US" dirty="0">
              <a:latin typeface="Cambria"/>
              <a:ea typeface="Cambria"/>
            </a:endParaRPr>
          </a:p>
          <a:p>
            <a:pPr marL="76200" indent="0">
              <a:buNone/>
            </a:pPr>
            <a:endParaRPr lang="en-US" dirty="0">
              <a:latin typeface="Cambria"/>
              <a:ea typeface="Cambri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ED880-8553-4A0A-E97C-8A9F6ABA7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1A83D-53DB-2117-78BC-7378745DD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mbria"/>
                <a:ea typeface="Cambria"/>
              </a:rPr>
              <a:t>Algorithms Used </a:t>
            </a:r>
            <a:r>
              <a:rPr lang="en-GB">
                <a:latin typeface="Cambria"/>
                <a:ea typeface="Cambria"/>
              </a:rPr>
              <a:t>(contd...)</a:t>
            </a:r>
            <a:endParaRPr lang="en-US">
              <a:latin typeface="Cambria"/>
              <a:ea typeface="Cambria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8A14E3-3F6C-CA84-99A2-C69B06EF91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85750" indent="-285750"/>
            <a:r>
              <a:rPr lang="en-US" b="1">
                <a:latin typeface="Cambria"/>
                <a:ea typeface="Cambria"/>
              </a:rPr>
              <a:t>FAISS</a:t>
            </a:r>
            <a:br>
              <a:rPr lang="en-US" b="1" dirty="0">
                <a:latin typeface="Cambria"/>
                <a:ea typeface="Cambria"/>
              </a:rPr>
            </a:br>
            <a:r>
              <a:rPr lang="en-US">
                <a:latin typeface="Cambria"/>
                <a:ea typeface="Cambria"/>
              </a:rPr>
              <a:t> Finds most relevant info from NASA database </a:t>
            </a:r>
            <a:endParaRPr lang="en-US" dirty="0">
              <a:latin typeface="Cambria"/>
              <a:ea typeface="Cambria"/>
            </a:endParaRPr>
          </a:p>
          <a:p>
            <a:pPr marL="285750" indent="-285750"/>
            <a:r>
              <a:rPr lang="en-US" b="1" dirty="0">
                <a:latin typeface="Cambria"/>
                <a:ea typeface="Cambria"/>
              </a:rPr>
              <a:t>RAG (Retrieval-Augmented Generation)</a:t>
            </a:r>
            <a:br>
              <a:rPr lang="en-US" b="1" dirty="0">
                <a:latin typeface="Cambria"/>
                <a:ea typeface="Cambria"/>
              </a:rPr>
            </a:br>
            <a:r>
              <a:rPr lang="en-US" dirty="0">
                <a:latin typeface="Cambria"/>
                <a:ea typeface="Cambria"/>
              </a:rPr>
              <a:t> Combines search + AI response</a:t>
            </a:r>
            <a:br>
              <a:rPr lang="en-US" dirty="0">
                <a:latin typeface="Cambria"/>
                <a:ea typeface="Cambria"/>
              </a:rPr>
            </a:br>
            <a:r>
              <a:rPr lang="en-US" dirty="0">
                <a:latin typeface="Cambria"/>
                <a:ea typeface="Cambria"/>
              </a:rPr>
              <a:t> ✔ Gives accurate, fact-based answers</a:t>
            </a:r>
          </a:p>
          <a:p>
            <a:pPr marL="285750" indent="-285750"/>
            <a:r>
              <a:rPr lang="en-US" b="1">
                <a:latin typeface="Cambria"/>
                <a:ea typeface="Cambria"/>
              </a:rPr>
              <a:t>LSTM Autoencoder</a:t>
            </a:r>
            <a:br>
              <a:rPr lang="en-US" b="1" dirty="0">
                <a:latin typeface="Cambria"/>
                <a:ea typeface="Cambria"/>
              </a:rPr>
            </a:br>
            <a:r>
              <a:rPr lang="en-US" b="1" dirty="0">
                <a:latin typeface="Cambria"/>
                <a:ea typeface="Cambria"/>
              </a:rPr>
              <a:t> </a:t>
            </a:r>
            <a:r>
              <a:rPr lang="en-US">
                <a:latin typeface="Cambria"/>
                <a:ea typeface="Cambria"/>
              </a:rPr>
              <a:t>Learns normal behavior patterns</a:t>
            </a:r>
            <a:br>
              <a:rPr lang="en-US" dirty="0">
                <a:latin typeface="Cambria"/>
                <a:ea typeface="Cambria"/>
              </a:rPr>
            </a:br>
            <a:r>
              <a:rPr lang="en-US">
                <a:latin typeface="Cambria"/>
                <a:ea typeface="Cambria"/>
              </a:rPr>
              <a:t> ✔ Detects unusual stress changes </a:t>
            </a:r>
            <a:endParaRPr lang="en-US" dirty="0">
              <a:latin typeface="Cambria"/>
              <a:ea typeface="Cambria"/>
            </a:endParaRPr>
          </a:p>
          <a:p>
            <a:pPr>
              <a:buNone/>
            </a:pPr>
            <a:endParaRPr lang="en-US" b="1" dirty="0">
              <a:latin typeface="Cambria"/>
              <a:ea typeface="Cambria"/>
            </a:endParaRPr>
          </a:p>
          <a:p>
            <a:pPr marL="76200" indent="0">
              <a:buNone/>
            </a:pPr>
            <a:endParaRPr lang="en-US" b="1" dirty="0"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9354655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317532" y="992039"/>
            <a:ext cx="11555894" cy="5099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75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>
                <a:latin typeface="Cambria"/>
              </a:rPr>
              <a:t>Astronauts who stay in space for a long time face mental and physical challenges due to isolation, confinement, and heavy work pressure.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>
                <a:latin typeface="Cambria"/>
              </a:rPr>
              <a:t>Problems such as stress, tiredness, poor sleep, and reduced concentration usually develop slowly and are hard to notice in the early stages.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>
                <a:latin typeface="Cambria"/>
              </a:rPr>
              <a:t>At present, astronauts mainly depend on scheduled communication with Earth and basic health monitoring for support.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>
                <a:latin typeface="Cambria"/>
              </a:rPr>
              <a:t>In deep space missions, communication delays make it difficult to receive continuous psychological support from Earth.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>
                <a:latin typeface="Cambria"/>
              </a:rPr>
              <a:t>Existing systems focus mostly on physical health or mission tasks and do not provide continuous emotional or mental well-being support.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>
                <a:latin typeface="Cambria"/>
              </a:rPr>
              <a:t>Hence, there is a need for an AI-based system that can continuously monitor well-being, identify early warning signs, and provide supportive guidance during long-duration space missions.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>
              <a:lnSpc>
                <a:spcPct val="200000"/>
              </a:lnSpc>
            </a:pPr>
            <a:r>
              <a:rPr lang="en-US">
                <a:latin typeface="Cambria"/>
                <a:ea typeface="Cambria"/>
              </a:rPr>
              <a:t>Innovation or Novel Contributions</a:t>
            </a:r>
            <a:endParaRPr lang="en-US"/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0000"/>
          </a:bodyPr>
          <a:lstStyle/>
          <a:p>
            <a:pPr algn="just">
              <a:buNone/>
            </a:pPr>
            <a:r>
              <a:rPr lang="en-US">
                <a:latin typeface="Cambria"/>
              </a:rPr>
              <a:t>Our system is unique because it:</a:t>
            </a:r>
          </a:p>
          <a:p>
            <a:pPr marL="285750" indent="-285750" algn="just"/>
            <a:r>
              <a:rPr lang="en-US">
                <a:latin typeface="Cambria"/>
              </a:rPr>
              <a:t>Brings psychological and physical well-being support into one platform – conversation, stress understanding, risk monitoring, and guidance are all combined in a single system.</a:t>
            </a:r>
          </a:p>
          <a:p>
            <a:pPr marL="285750" indent="-285750" algn="just"/>
            <a:r>
              <a:rPr lang="en-US">
                <a:latin typeface="Cambria"/>
              </a:rPr>
              <a:t>Allows astronauts to express their feelings naturally – through a simple chat interface without pressure or judgement.</a:t>
            </a:r>
          </a:p>
          <a:p>
            <a:pPr marL="285750" indent="-285750" algn="just"/>
            <a:r>
              <a:rPr lang="en-US">
                <a:latin typeface="Cambria"/>
              </a:rPr>
              <a:t>Understands stress and emotional patterns over time – instead of reacting to a single message, it tracks changes across days.</a:t>
            </a:r>
          </a:p>
          <a:p>
            <a:pPr marL="285750" indent="-285750" algn="just"/>
            <a:r>
              <a:rPr lang="en-US">
                <a:latin typeface="Cambria"/>
              </a:rPr>
              <a:t>Provides personalized and adaptive support – suggestions and responses change based on the astronaut’s condition and past interactions.</a:t>
            </a:r>
          </a:p>
          <a:p>
            <a:pPr marL="285750" indent="-285750" algn="just"/>
            <a:r>
              <a:rPr lang="en-US">
                <a:latin typeface="Cambria"/>
              </a:rPr>
              <a:t>Identifies early warning signs – a well-being risk score helps detect mental or physical strain before it becomes serious.</a:t>
            </a:r>
          </a:p>
          <a:p>
            <a:pPr marL="285750" indent="-285750" algn="just"/>
            <a:r>
              <a:rPr lang="en-US">
                <a:latin typeface="Cambria"/>
              </a:rPr>
              <a:t>Works in low-connectivity or offline environments – ensuring continuous support even when communication with Earth is delayed.</a:t>
            </a:r>
          </a:p>
          <a:p>
            <a:pPr marL="285750" indent="-285750" algn="just"/>
            <a:r>
              <a:rPr lang="en-US">
                <a:latin typeface="Cambria"/>
              </a:rPr>
              <a:t>Respects privacy and ethical boundaries – offers support without medical diagnosis or sharing personal data.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Picture 4" descr="output (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965" y="1188720"/>
            <a:ext cx="995807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/>
          </a:bodyPr>
          <a:lstStyle/>
          <a:p>
            <a:pPr marL="76200" indent="0">
              <a:buNone/>
            </a:pPr>
            <a:r>
              <a:rPr lang="en-US"/>
              <a:t>MAITRI successfully delivers an autonomous, multimodal, fully on-device AI health companion addressing the critical gap in deep-space astronaut health support</a:t>
            </a:r>
          </a:p>
          <a:p>
            <a:pPr marL="76200" indent="0">
              <a:buNone/>
            </a:pPr>
            <a:r>
              <a:rPr lang="en-US"/>
              <a:t>All five objectives achieved:</a:t>
            </a:r>
          </a:p>
          <a:p>
            <a:r>
              <a:rPr lang="en-US"/>
              <a:t>Physiological: 81.61% LOSO accuracy, 81.05% F1 on WESAD</a:t>
            </a:r>
          </a:p>
          <a:p>
            <a:r>
              <a:rPr lang="en-US"/>
              <a:t>NLP: MentalBERT zero-shot with SpaCy and VADER integrated</a:t>
            </a:r>
          </a:p>
          <a:p>
            <a:r>
              <a:rPr lang="en-US"/>
              <a:t>RAG: On-device FAISS + Llama 3 grounded in NASA HRP knowledge base</a:t>
            </a:r>
          </a:p>
          <a:p>
            <a:r>
              <a:rPr lang="en-US"/>
              <a:t>Explainability: SHAP top-5 feature panel in React.js dashboard</a:t>
            </a:r>
          </a:p>
          <a:p>
            <a:r>
              <a:rPr lang="en-US"/>
              <a:t>System: 1.5s latency, 100% uptime, zero internet dependency</a:t>
            </a:r>
          </a:p>
          <a:p>
            <a:pPr marL="76200" indent="0">
              <a:buNone/>
            </a:pPr>
            <a:endParaRPr lang="en-US"/>
          </a:p>
          <a:p>
            <a:r>
              <a:rPr lang="en-US"/>
              <a:t>Future Work: LOSO SHAP aggregation, MentalBERT fine-tuning on astronaut transcripts, RAG evaluation with BERTScore, live wearable biosensor integration, statistically powered clinical validation study</a:t>
            </a:r>
          </a:p>
          <a:p>
            <a:r>
              <a:rPr lang="en-US"/>
              <a:t>MAITRI establishes a technically grounded foundation for autonomous AI health companions for crewed deep-space exploration</a:t>
            </a:r>
          </a:p>
          <a:p>
            <a:r>
              <a:rPr lang="en-US"/>
              <a:t>Sonnet 4.6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0000"/>
          </a:bodyPr>
          <a:lstStyle/>
          <a:p>
            <a:pPr algn="just">
              <a:buNone/>
            </a:pPr>
            <a:r>
              <a:rPr lang="en-US" sz="1800">
                <a:latin typeface="Cambria"/>
              </a:rPr>
              <a:t>[1] D. D. Chang, E. A. Storch, L. Black, M. Berk, N. Pellis, H. Lavretsky, J. Sutton, K. Ternes, M. Shepanek, E. Smith, R. Abbott, and H. A. Eyre, “Promoting tech transfer between space and global mental health,” Aerospace Medicine and Human Performance, vol. 91, no. 9, pp. 737–745, Sep. 2020.</a:t>
            </a:r>
          </a:p>
          <a:p>
            <a:pPr algn="just">
              <a:buNone/>
            </a:pPr>
            <a:r>
              <a:rPr lang="en-US" sz="1800">
                <a:latin typeface="Cambria"/>
              </a:rPr>
              <a:t>[2] S. L. Chandra, P. R. Nair, and R. Kumar, “Artificial intelligence–based mental health support systems: A review,” arXiv preprint arXiv:2105.03216, May 2021.</a:t>
            </a:r>
          </a:p>
          <a:p>
            <a:pPr algn="just">
              <a:buNone/>
            </a:pPr>
            <a:r>
              <a:rPr lang="en-US" sz="1800">
                <a:latin typeface="Cambria"/>
              </a:rPr>
              <a:t>[3] J. R. Clément and R. S. Ngo-Anh, “Keeping astronauts healthy during long-duration space missions,” Acta Astronautica, vol. 126, pp. 168–176, Sep. 2016.</a:t>
            </a:r>
          </a:p>
          <a:p>
            <a:pPr algn="just">
              <a:buNone/>
            </a:pPr>
            <a:r>
              <a:rPr lang="en-US" sz="1800">
                <a:latin typeface="Cambria"/>
              </a:rPr>
              <a:t>[4] M. A. Cypko, U. Straube, R. J. Andrews, and O. Amft, “Digital health for space: Towards prevention, training, empowerment, and autonomy,” in Advancing Human-Computer Interaction for Space Exploration (SpaceCHI), 2025.</a:t>
            </a:r>
          </a:p>
          <a:p>
            <a:pPr algn="just">
              <a:buNone/>
            </a:pPr>
            <a:r>
              <a:rPr lang="en-US" sz="1800">
                <a:latin typeface="Cambria"/>
              </a:rPr>
              <a:t>[5] L. A. De La Torre, A. L. Jennings, and R. J. Harvey, “Psychological challenges of long-duration spaceflight,” Journal of Applied Physiology, vol. 120, no. 7, pp. 1–9, 2016.</a:t>
            </a:r>
          </a:p>
          <a:p>
            <a:pPr algn="just">
              <a:buNone/>
            </a:pPr>
            <a:r>
              <a:rPr lang="en-US" sz="1800">
                <a:latin typeface="Cambria"/>
              </a:rPr>
              <a:t>[6] European Space Agency (ESA), “Behavioral health and performance research for long-duration space missions,” ESA Human and Robotic Exploration Directorate, 2022.</a:t>
            </a:r>
          </a:p>
          <a:p>
            <a:pPr algn="just">
              <a:buNone/>
            </a:pPr>
            <a:r>
              <a:rPr lang="en-US" sz="1800">
                <a:latin typeface="Cambria"/>
              </a:rPr>
              <a:t>[7] M. A. R. Finlayson, K. McNeal, and L. A. D’Mello, “Emotional detection and monitoring using conversational agents,” IEEE Transactions on Affective Computing, vol. 11, no. 2, pp. 1–14, 2020.</a:t>
            </a:r>
          </a:p>
          <a:p>
            <a:pPr algn="just">
              <a:buNone/>
            </a:pPr>
            <a:r>
              <a:rPr lang="en-US" sz="1800">
                <a:latin typeface="Cambria"/>
              </a:rPr>
              <a:t>[8] F. Pagnini and F. Grosso, “Human space exploration: Benefits to humanity,” 2025.</a:t>
            </a:r>
          </a:p>
          <a:p>
            <a:pPr algn="just">
              <a:buNone/>
            </a:pPr>
            <a:r>
              <a:rPr lang="en-US" sz="1800">
                <a:latin typeface="Cambria"/>
              </a:rPr>
              <a:t>[9] I. A. Rozanov, “Psychological support for astronauts in space,” 2022.</a:t>
            </a:r>
          </a:p>
          <a:p>
            <a:pPr algn="just">
              <a:buNone/>
            </a:pPr>
            <a:r>
              <a:rPr lang="en-US" sz="1800">
                <a:latin typeface="Cambria"/>
              </a:rPr>
              <a:t>[10] K. Sandal, G. R. Leon, and S. Palinkas, “Human challenges in polar and space environments,” Reviews in Environmental Science and Bio/Technology, vol. 5, no. 2–3, pp. 281–296, 2006.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Cambria"/>
                <a:ea typeface="Cambria"/>
              </a:rPr>
              <a:t>References (IEEE Paper format)(contd...)</a:t>
            </a:r>
            <a:endParaRPr lang="en-US" b="0">
              <a:solidFill>
                <a:srgbClr val="000000"/>
              </a:solidFill>
              <a:latin typeface="Cambria"/>
              <a:ea typeface="Cambri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1600">
                <a:latin typeface="Cambria"/>
                <a:ea typeface="Cambria"/>
              </a:rPr>
              <a:t>[11] T. B. Sheridan, “Human–AI interaction and trust in autonomous systems,” Human Factors, vol. 63, no. 5, pp. 1–12, 2021.</a:t>
            </a:r>
          </a:p>
          <a:p>
            <a:pPr>
              <a:buNone/>
            </a:pPr>
            <a:r>
              <a:rPr lang="en-US" sz="1600">
                <a:latin typeface="Cambria"/>
                <a:ea typeface="Cambria"/>
              </a:rPr>
              <a:t>[12] N. Smith, “Technology to support mental health in deep space,” 2023.</a:t>
            </a:r>
          </a:p>
          <a:p>
            <a:pPr>
              <a:buNone/>
            </a:pPr>
            <a:r>
              <a:rPr lang="en-US" sz="1600">
                <a:latin typeface="Cambria"/>
                <a:ea typeface="Cambria"/>
              </a:rPr>
              <a:t>[13] B. K. Wiederhold, “From cyberspace to outer space,” Cyberpsychology, Behavior, and Social Networking, 2025.</a:t>
            </a:r>
          </a:p>
          <a:p>
            <a:pPr>
              <a:buNone/>
            </a:pPr>
            <a:r>
              <a:rPr lang="en-US" sz="1600">
                <a:latin typeface="Cambria"/>
                <a:ea typeface="Cambria"/>
              </a:rPr>
              <a:t>[14] Y. Wang, D. Dong, and W. Zhou, “Wearable health monitoring for astronauts,” 2025.</a:t>
            </a:r>
          </a:p>
          <a:p>
            <a:pPr>
              <a:buNone/>
            </a:pPr>
            <a:r>
              <a:rPr lang="en-US" sz="1600">
                <a:latin typeface="Cambria"/>
                <a:ea typeface="Cambria"/>
              </a:rPr>
              <a:t>[15] G. G. De la Torre, “Behavioral health research in space analog,” 2024.</a:t>
            </a:r>
          </a:p>
          <a:p>
            <a:pPr>
              <a:buNone/>
            </a:pPr>
            <a:r>
              <a:rPr lang="en-US" sz="1600">
                <a:latin typeface="Cambria"/>
                <a:ea typeface="Cambria"/>
              </a:rPr>
              <a:t>[16] N. J. Kanas, V. Salnitskiy, E. Grund, et al., “Interpersonal and cultural issues involving crews and ground personnel during International Space Station missions,” Aviation, Space, and Environmental Medicine, vol. 80, no. 7, pp. 647–655, Jul. 2009.</a:t>
            </a:r>
          </a:p>
          <a:p>
            <a:pPr>
              <a:buNone/>
            </a:pPr>
            <a:r>
              <a:rPr lang="en-US" sz="1600">
                <a:latin typeface="Cambria"/>
                <a:ea typeface="Cambria"/>
              </a:rPr>
              <a:t>[17] A. A. Kanas and D. Manzey, Space Psychology and Psychiatry, 2nd ed., Springer, Dordrecht, 2008.</a:t>
            </a:r>
          </a:p>
          <a:p>
            <a:pPr>
              <a:buNone/>
            </a:pPr>
            <a:r>
              <a:rPr lang="en-US" sz="1600">
                <a:latin typeface="Cambria"/>
                <a:ea typeface="Cambria"/>
              </a:rPr>
              <a:t>[18] A. Nezami, “Space psychology: A comprehensive approach to the future of astronaut wellbeing,” Frontiers in Virtual Reality, Jan. 2025.</a:t>
            </a:r>
          </a:p>
          <a:p>
            <a:pPr>
              <a:buNone/>
            </a:pPr>
            <a:r>
              <a:rPr lang="en-US" sz="1600">
                <a:latin typeface="Cambria"/>
                <a:ea typeface="Cambria"/>
              </a:rPr>
              <a:t>[19] S. A. Shah, S. Karim, R. Kumar, and A. L. Bhatti, “Beyond the gravity: Exploring legal position of astronauts’ well-being in space,” 2024.</a:t>
            </a:r>
          </a:p>
          <a:p>
            <a:pPr>
              <a:buNone/>
            </a:pPr>
            <a:r>
              <a:rPr lang="en-US" sz="1600">
                <a:latin typeface="Cambria"/>
                <a:ea typeface="Cambria"/>
              </a:rPr>
              <a:t>[20] S. Hussain, Z. Wang, and S. Rahim, “Ethical and privacy challenges in AI-driven health support systems,” arXiv preprint arXiv:2303.04127, Mar. 2023.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22748</Words>
  <Application>Microsoft Office PowerPoint</Application>
  <PresentationFormat>Widescreen</PresentationFormat>
  <Paragraphs>647</Paragraphs>
  <Slides>27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Bioinformatics</vt:lpstr>
      <vt:lpstr>MAITRI: AN AI ASSISTANT FOR PSYCHOLOGICAL &amp; PHYSICAL WELL-BEING OF ASTRONAUTS</vt:lpstr>
      <vt:lpstr>Content</vt:lpstr>
      <vt:lpstr>Problem Statement</vt:lpstr>
      <vt:lpstr>Abstract</vt:lpstr>
      <vt:lpstr>Background and Related work</vt:lpstr>
      <vt:lpstr>Background and Related work(contd...)</vt:lpstr>
      <vt:lpstr>Objectives</vt:lpstr>
      <vt:lpstr>Existing Methods and Drawbacks</vt:lpstr>
      <vt:lpstr>Existing Methods and Drawbacks(contd...)</vt:lpstr>
      <vt:lpstr>Proposed Method &amp; Feasibility Study</vt:lpstr>
      <vt:lpstr>Proposed Method &amp; Feasibility Study(contd...)</vt:lpstr>
      <vt:lpstr>Proposed Method &amp; Feasibility Study(contd...)</vt:lpstr>
      <vt:lpstr>Proposed Method &amp; Feasibility Study(contd...)</vt:lpstr>
      <vt:lpstr>Architecture Diagram</vt:lpstr>
      <vt:lpstr>Modules</vt:lpstr>
      <vt:lpstr>Modules(contd...)</vt:lpstr>
      <vt:lpstr>Hardware and Software Details</vt:lpstr>
      <vt:lpstr>Advantages of Proposed System</vt:lpstr>
      <vt:lpstr>Algorithms Used</vt:lpstr>
      <vt:lpstr>Algorithms Used (contd...)</vt:lpstr>
      <vt:lpstr>Analysis of Problem Statement</vt:lpstr>
      <vt:lpstr>Innovation or Novel Contributions</vt:lpstr>
      <vt:lpstr>Timeline of the Project (Gantt Chart)</vt:lpstr>
      <vt:lpstr>Conclusion</vt:lpstr>
      <vt:lpstr>References (IEEE Paper format)</vt:lpstr>
      <vt:lpstr>References (IEEE Paper format)(contd...)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WPS_1697338948</cp:lastModifiedBy>
  <cp:revision>181</cp:revision>
  <dcterms:created xsi:type="dcterms:W3CDTF">2026-04-24T14:15:58Z</dcterms:created>
  <dcterms:modified xsi:type="dcterms:W3CDTF">2026-04-24T14:34:46Z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1033-5.2.1.7924</vt:lpwstr>
  </property>
</Properties>
</file>