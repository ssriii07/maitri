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9" r:id="rId4"/>
    <p:sldId id="281" r:id="rId5"/>
    <p:sldId id="279" r:id="rId6"/>
    <p:sldId id="277" r:id="rId7"/>
    <p:sldId id="275" r:id="rId8"/>
    <p:sldId id="282" r:id="rId9"/>
    <p:sldId id="287" r:id="rId10"/>
    <p:sldId id="283" r:id="rId11"/>
    <p:sldId id="295" r:id="rId12"/>
    <p:sldId id="294" r:id="rId13"/>
    <p:sldId id="293" r:id="rId14"/>
    <p:sldId id="284" r:id="rId15"/>
    <p:sldId id="285" r:id="rId16"/>
    <p:sldId id="290" r:id="rId17"/>
    <p:sldId id="286" r:id="rId18"/>
    <p:sldId id="288" r:id="rId19"/>
    <p:sldId id="289" r:id="rId20"/>
    <p:sldId id="273" r:id="rId21"/>
    <p:sldId id="271" r:id="rId22"/>
    <p:sldId id="270" r:id="rId23"/>
    <p:sldId id="265" r:id="rId24"/>
    <p:sldId id="280" r:id="rId25"/>
    <p:sldId id="266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76967-A0C4-FFA8-9A9B-3F60C81F7E20}" v="54" dt="2026-02-02T11:50:56.744"/>
    <p1510:client id="{6AC356E4-5BBF-CD05-76A4-93C9919246D2}" v="1728" dt="2026-02-02T11:09:49.941"/>
    <p1510:client id="{915E162E-8CC5-EBBA-B1B5-EDAB5F757E32}" v="367" dt="2026-02-02T12:23:20.163"/>
    <p1510:client id="{9BFF1BBA-4DDF-618A-496A-A76713A8DC1E}" v="126" dt="2026-02-02T11:14:35.148"/>
    <p1510:client id="{CEEBAA82-4164-7EC1-27CE-71C7865F478B}" v="81" dt="2026-02-01T13:45:01.851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en-GB" sz="2400">
                <a:solidFill>
                  <a:schemeClr val="tx1"/>
                </a:solidFill>
                <a:latin typeface="Cambria"/>
                <a:ea typeface="Cambria"/>
              </a:rPr>
              <a:t>MAITRI: AN AI ASSISTANT FOR PSYCHOLOGICAL &amp; PHYSICAL WELL-BEING OF ASTRONAUTS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</a:pPr>
            <a:r>
              <a:rPr lang="en-GB" sz="1800">
                <a:latin typeface="Cambria"/>
                <a:ea typeface="Cambria"/>
              </a:rPr>
              <a:t>Batch Number: CSE_</a:t>
            </a:r>
            <a:r>
              <a:rPr lang="en-US" altLang="en-GB" sz="1800">
                <a:latin typeface="Cambria"/>
                <a:ea typeface="Cambria"/>
              </a:rPr>
              <a:t>65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Under the Supervision of,</a:t>
            </a:r>
            <a:endParaRPr sz="1800">
              <a:latin typeface="Cambria"/>
              <a:ea typeface="Cambria"/>
            </a:endParaRPr>
          </a:p>
          <a:p>
            <a:pPr marL="0" indent="0" algn="ctr">
              <a:spcBef>
                <a:spcPts val="400"/>
              </a:spcBef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algn="just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</a:t>
            </a:r>
            <a:r>
              <a:rPr 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Balakrishnan Raju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Associate</a:t>
            </a: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Professor </a:t>
            </a:r>
            <a:endParaRPr>
              <a:latin typeface="Cambria"/>
              <a:ea typeface="Cambria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>
              <a:latin typeface="Cambria"/>
              <a:ea typeface="Cambria"/>
            </a:endParaRPr>
          </a:p>
          <a:p>
            <a:pPr marL="0" indent="0" algn="just">
              <a:spcBef>
                <a:spcPts val="340"/>
              </a:spcBef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cap="none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Presidency University</a:t>
            </a:r>
            <a:endParaRPr>
              <a:latin typeface="Cambria"/>
              <a:ea typeface="Cambria"/>
            </a:endParaRPr>
          </a:p>
          <a:p>
            <a:pPr marL="0" indent="0">
              <a:spcBef>
                <a:spcPts val="400"/>
              </a:spcBef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/>
                        <a:t>20221CSE0484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K SAI SRI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20221CSE0446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MEGHANA K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CSE7</a:t>
            </a:r>
            <a:r>
              <a:rPr lang="en-US" alt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302</a:t>
            </a:r>
            <a:r>
              <a:rPr 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-</a:t>
            </a:r>
            <a:r>
              <a:rPr lang="en-GB" sz="18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8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University</a:t>
            </a:r>
            <a:r>
              <a:rPr lang="en-GB" sz="1800" b="1" cap="none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 Project</a:t>
            </a:r>
            <a:endParaRPr sz="1800" dirty="0">
              <a:latin typeface="Cambria"/>
              <a:ea typeface="Cambria"/>
            </a:endParaRPr>
          </a:p>
          <a:p>
            <a:pPr marL="0" indent="0" algn="ctr">
              <a:spcBef>
                <a:spcPts val="310"/>
              </a:spcBef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Review-2</a:t>
            </a:r>
            <a:endParaRPr sz="1800" b="1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cap="none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err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B.Tech</a:t>
            </a: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, Computer Science and Engineering</a:t>
            </a:r>
            <a:endParaRPr lang="en-US" sz="1800" b="1" cap="none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1800" b="1" err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HoD</a:t>
            </a: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Blessed Prince</a:t>
            </a:r>
            <a:endParaRPr lang="en-US" sz="1800" b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cap="none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MUTHURAJU V</a:t>
            </a:r>
            <a:endParaRPr lang="en-US" sz="1800" b="1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>
                <a:solidFill>
                  <a:schemeClr val="accent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cap="none">
                <a:solidFill>
                  <a:schemeClr val="tx1"/>
                </a:solidFill>
                <a:latin typeface="Cambria"/>
                <a:ea typeface="Cambria"/>
                <a:cs typeface="Verdana" panose="020B0604030504040204"/>
                <a:sym typeface="Verdana" panose="020B0604030504040204"/>
              </a:rPr>
              <a:t>Dr. Sampath A K , Dr. Geetha A </a:t>
            </a:r>
            <a:endParaRPr sz="1800" b="1" cap="none">
              <a:solidFill>
                <a:schemeClr val="tx1"/>
              </a:solidFill>
              <a:latin typeface="Cambria"/>
              <a:ea typeface="Cambria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955" y="893817"/>
            <a:ext cx="10668000" cy="5573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Background and Related work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Existing Methods and Drawbacks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Proposed Method &amp;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Architecture Diagram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Hardware and Software Details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Innovation or Novel Contributions</a:t>
            </a:r>
            <a:endParaRPr lang="en-US" sz="3200" dirty="0">
              <a:latin typeface="Cambria"/>
              <a:ea typeface="Cambria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/>
                <a:ea typeface="Cambria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/>
                <a:ea typeface="Cambria"/>
              </a:rPr>
              <a:t>Problem Statement</a:t>
            </a:r>
            <a:endParaRPr>
              <a:latin typeface="Cambria"/>
              <a:ea typeface="Cambria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Problem Statement Number:</a:t>
            </a:r>
            <a:r>
              <a:rPr lang="en-US">
                <a:latin typeface="Cambria"/>
                <a:ea typeface="Cambria"/>
              </a:rPr>
              <a:t> SIH25175</a:t>
            </a:r>
            <a:endParaRPr lang="en-US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Organization:</a:t>
            </a:r>
            <a:r>
              <a:rPr lang="en-US">
                <a:latin typeface="Cambria"/>
                <a:ea typeface="Cambria"/>
              </a:rPr>
              <a:t> Indian Space Research Organisation(ISRO)</a:t>
            </a:r>
            <a:endParaRPr lang="en-US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Category: </a:t>
            </a:r>
            <a:r>
              <a:rPr lang="en-US">
                <a:latin typeface="Cambria"/>
                <a:ea typeface="Cambria"/>
              </a:rPr>
              <a:t>Software </a:t>
            </a:r>
            <a:endParaRPr lang="en-US">
              <a:latin typeface="Cambria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b="1">
                <a:latin typeface="Cambria"/>
                <a:ea typeface="Cambria"/>
              </a:rPr>
              <a:t>Problem Description: </a:t>
            </a:r>
            <a:r>
              <a:rPr lang="en-US">
                <a:latin typeface="Cambria"/>
                <a:ea typeface="Cambria"/>
              </a:rPr>
              <a:t>MAITRI: An AI Assistant for Psychological &amp; Physical Well-Being of Astronauts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>
                <a:latin typeface="Cambria"/>
              </a:rPr>
              <a:t>Long-duration space missions expose astronauts to stress, isolation, and fatigue, while delayed communication with Earth limits continuous support, creating the need for an autonomous AI-based well-being assistance system.</a:t>
            </a: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170000"/>
              </a:lnSpc>
              <a:spcBef>
                <a:spcPts val="0"/>
              </a:spcBef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336CD-0486-0C23-3F38-256A2EDD8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Abstract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3E722A-EA34-6E46-7B7A-C228B2E9914C}"/>
              </a:ext>
            </a:extLst>
          </p:cNvPr>
          <p:cNvSpPr txBox="1"/>
          <p:nvPr/>
        </p:nvSpPr>
        <p:spPr>
          <a:xfrm>
            <a:off x="545384" y="1072871"/>
            <a:ext cx="10935368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Cambria"/>
              </a:rPr>
              <a:t>Mental well-being is a critical challenge for individuals working in isolated, high-stress environments such as space missions. Prolonged confinement, limited social interaction, and communication delays can lead to psychological strain, making continuous emotional support essential.</a:t>
            </a:r>
            <a:br>
              <a:rPr lang="en-US" sz="2000" dirty="0">
                <a:latin typeface="Cambria"/>
              </a:rPr>
            </a:br>
            <a:r>
              <a:rPr lang="en-US" sz="2000" dirty="0">
                <a:latin typeface="Cambria"/>
              </a:rPr>
              <a:t>This project, </a:t>
            </a:r>
            <a:r>
              <a:rPr lang="en-US" sz="2000" b="1" dirty="0">
                <a:latin typeface="Cambria"/>
              </a:rPr>
              <a:t>MAITRI</a:t>
            </a:r>
            <a:r>
              <a:rPr lang="en-US" sz="2000" dirty="0">
                <a:latin typeface="Cambria"/>
              </a:rPr>
              <a:t>, aims to provide an intelligent mental-health companion capable of understanding a user's emotional state and offering timely, personalized support.</a:t>
            </a:r>
          </a:p>
          <a:p>
            <a:r>
              <a:rPr lang="en-US" sz="2000" dirty="0">
                <a:latin typeface="Cambria"/>
              </a:rPr>
              <a:t>MAITRI uses a combination of </a:t>
            </a:r>
            <a:r>
              <a:rPr lang="en-US" sz="2000" b="1" dirty="0">
                <a:latin typeface="Cambria"/>
              </a:rPr>
              <a:t>Natural Language Processing (NLP)</a:t>
            </a:r>
            <a:r>
              <a:rPr lang="en-US" sz="2000" dirty="0">
                <a:latin typeface="Cambria"/>
              </a:rPr>
              <a:t> and </a:t>
            </a:r>
            <a:r>
              <a:rPr lang="en-US" sz="2000" b="1" dirty="0">
                <a:latin typeface="Cambria"/>
              </a:rPr>
              <a:t>rule-based analysis</a:t>
            </a:r>
            <a:r>
              <a:rPr lang="en-US" sz="2000" dirty="0">
                <a:latin typeface="Cambria"/>
              </a:rPr>
              <a:t> to interpret user inputs, detect emotions, assess stress levels, and provide suitable recommendations. The system architecture includes a </a:t>
            </a:r>
            <a:r>
              <a:rPr lang="en-US" sz="2000" b="1" dirty="0">
                <a:latin typeface="Cambria"/>
              </a:rPr>
              <a:t>React-based frontend</a:t>
            </a:r>
            <a:r>
              <a:rPr lang="en-US" sz="2000" dirty="0">
                <a:latin typeface="Cambria"/>
              </a:rPr>
              <a:t> for seamless interaction, a </a:t>
            </a:r>
            <a:r>
              <a:rPr lang="en-US" sz="2000" b="1" err="1">
                <a:latin typeface="Cambria"/>
              </a:rPr>
              <a:t>FastAPI</a:t>
            </a:r>
            <a:r>
              <a:rPr lang="en-US" sz="2000" b="1" dirty="0">
                <a:latin typeface="Cambria"/>
              </a:rPr>
              <a:t> backend</a:t>
            </a:r>
            <a:r>
              <a:rPr lang="en-US" sz="2000" dirty="0">
                <a:latin typeface="Cambria"/>
              </a:rPr>
              <a:t> for processing user queries, an </a:t>
            </a:r>
            <a:r>
              <a:rPr lang="en-US" sz="2000" b="1" dirty="0">
                <a:latin typeface="Cambria"/>
              </a:rPr>
              <a:t>NLP engine</a:t>
            </a:r>
            <a:r>
              <a:rPr lang="en-US" sz="2000" dirty="0">
                <a:latin typeface="Cambria"/>
              </a:rPr>
              <a:t> for sentiment and emotion analysis, and an optional </a:t>
            </a:r>
            <a:r>
              <a:rPr lang="en-US" sz="2000" b="1" dirty="0">
                <a:latin typeface="Cambria"/>
              </a:rPr>
              <a:t>database layer</a:t>
            </a:r>
            <a:r>
              <a:rPr lang="en-US" sz="2000" dirty="0">
                <a:latin typeface="Cambria"/>
              </a:rPr>
              <a:t> for storing conversation history and emotional patterns.</a:t>
            </a:r>
          </a:p>
          <a:p>
            <a:r>
              <a:rPr lang="en-US" sz="2000" dirty="0">
                <a:latin typeface="Cambria"/>
              </a:rPr>
              <a:t>By offering a simple, accessible, and always-available support system, MAITRI enhances physiological and physical well-being, improves self-awareness, and contributes to healthier decision-making. The solution is lightweight, feasible to implement, and scalable for use in both everyday scenarios and mission-critical environments like space travel.</a:t>
            </a:r>
          </a:p>
        </p:txBody>
      </p:sp>
    </p:spTree>
    <p:extLst>
      <p:ext uri="{BB962C8B-B14F-4D97-AF65-F5344CB8AC3E}">
        <p14:creationId xmlns:p14="http://schemas.microsoft.com/office/powerpoint/2010/main" val="3894943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Background and Related work</a:t>
            </a:r>
            <a:endParaRPr lang="en-US" b="0">
              <a:solidFill>
                <a:srgbClr val="000000"/>
              </a:solidFill>
              <a:latin typeface="Cambri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86A12C3-60B3-9251-0539-65BEB22B1C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75681"/>
              </p:ext>
            </p:extLst>
          </p:nvPr>
        </p:nvGraphicFramePr>
        <p:xfrm>
          <a:off x="433172" y="1033468"/>
          <a:ext cx="11422280" cy="524256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284456">
                  <a:extLst>
                    <a:ext uri="{9D8B030D-6E8A-4147-A177-3AD203B41FA5}">
                      <a16:colId xmlns:a16="http://schemas.microsoft.com/office/drawing/2014/main" val="1260094222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514856184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2572512937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3216059350"/>
                    </a:ext>
                  </a:extLst>
                </a:gridCol>
                <a:gridCol w="2284456">
                  <a:extLst>
                    <a:ext uri="{9D8B030D-6E8A-4147-A177-3AD203B41FA5}">
                      <a16:colId xmlns:a16="http://schemas.microsoft.com/office/drawing/2014/main" val="4029354687"/>
                    </a:ext>
                  </a:extLst>
                </a:gridCol>
              </a:tblGrid>
              <a:tr h="292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1720999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latin typeface="Cambria"/>
                        </a:rPr>
                        <a:t>Annahita</a:t>
                      </a:r>
                      <a:r>
                        <a:rPr lang="en-US">
                          <a:latin typeface="Cambria"/>
                        </a:rPr>
                        <a:t> Nezami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Space Psychology: A Comprehensive Approach to the Future of Astronaut Well-Being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Review and analytical method based on existing research, theories, and 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A combined approach of psychology and technology is essential for future space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180527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Sardar Ali Shah, Saba Karim, Ramesh Kumar, Amir Latif Bhatti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Beyond the Gravity: Exploring Legal Position of Astronauts’ Well-Being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Doctrinal research method analyzing space laws, international treaties, and regulations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Existing space laws need improvement to better protect astronauts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660807"/>
                  </a:ext>
                </a:extLst>
              </a:tr>
              <a:tr h="11121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Ivan A. Rozanov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Psychological Support for Astronauts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Use of Virtual Reality (VR); data collected through observations, questionnaires, and sleep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Psychological support methods can be extended to hospitals and general medical care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0179765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Francesco Pagnini, Francesca Grosso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Human Space Exploration: Benefits to Humanity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Analysis of existing research studies and space psychology 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Astronauts experience stress and mental health challenges during long-duration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922346"/>
                  </a:ext>
                </a:extLst>
              </a:tr>
              <a:tr h="9072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Yi Wang, Delong Dong, </a:t>
                      </a:r>
                      <a:r>
                        <a:rPr lang="en-US" err="1">
                          <a:latin typeface="Cambria"/>
                        </a:rPr>
                        <a:t>Wenlian</a:t>
                      </a:r>
                      <a:r>
                        <a:rPr lang="en-US">
                          <a:latin typeface="Cambria"/>
                        </a:rPr>
                        <a:t> Zhou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Wearable Health Monitoring for Astronauts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Study of current wearable technologies and flexible wearable device applications in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Cambria"/>
                        </a:rPr>
                        <a:t>Wearable devices enhance astronaut safety, though technical challenges still remain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266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Background and Related work(contd...)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5A754D-8956-24BC-1335-1D6D0F311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224828"/>
              </p:ext>
            </p:extLst>
          </p:nvPr>
        </p:nvGraphicFramePr>
        <p:xfrm>
          <a:off x="298173" y="993913"/>
          <a:ext cx="11595630" cy="54559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319126">
                  <a:extLst>
                    <a:ext uri="{9D8B030D-6E8A-4147-A177-3AD203B41FA5}">
                      <a16:colId xmlns:a16="http://schemas.microsoft.com/office/drawing/2014/main" val="1857175084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2317067867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1464900173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3179807552"/>
                    </a:ext>
                  </a:extLst>
                </a:gridCol>
                <a:gridCol w="2319126">
                  <a:extLst>
                    <a:ext uri="{9D8B030D-6E8A-4147-A177-3AD203B41FA5}">
                      <a16:colId xmlns:a16="http://schemas.microsoft.com/office/drawing/2014/main" val="1067468214"/>
                    </a:ext>
                  </a:extLst>
                </a:gridCol>
              </a:tblGrid>
              <a:tr h="2995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Cambria"/>
                        </a:rPr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093857"/>
                  </a:ext>
                </a:extLst>
              </a:tr>
              <a:tr h="113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Nathan Smith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Technology to Support Mental Health in Deep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Analysis of digital health technologies combined with psychological and human-factor theories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Digital tools such as VR, AI assistants, monitoring systems, and automated support can effectively aid astronaut mental health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413272"/>
                  </a:ext>
                </a:extLst>
              </a:tr>
              <a:tr h="113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Antonia Russo, Gianluca Lax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Using Artificial Intelligence for Space 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Application of Machine Learning, Deep Learning, Reinforcement Learning, and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Provides strong justification for systems like MAITRI that integrate mental health monitoring with decision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892178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Mario A. </a:t>
                      </a:r>
                      <a:r>
                        <a:rPr lang="en-US" err="1">
                          <a:latin typeface="Cambria"/>
                        </a:rPr>
                        <a:t>Cypko</a:t>
                      </a:r>
                      <a:r>
                        <a:rPr lang="en-US">
                          <a:latin typeface="Cambria"/>
                        </a:rPr>
                        <a:t>, Ulrich Straube, Russell J. Andrews, Oliver </a:t>
                      </a:r>
                      <a:r>
                        <a:rPr lang="en-US" err="1">
                          <a:latin typeface="Cambria"/>
                        </a:rPr>
                        <a:t>Amft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Digital Health for Space: Towards Prevention, Training, Empowerment, and Autonomy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Evaluation across space mission scenarios (ISS, Moon, Mars, deep space)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Long-duration space missions require autonomous digital health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310583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Brenda K. Wiederhold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From Cyberspace to Outer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Discussion of existing and emerging digital technologies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Astronauts face significant mental health challenges due to isolation, stress, and extended 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665869"/>
                  </a:ext>
                </a:extLst>
              </a:tr>
              <a:tr h="92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Donald D. Chang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Promoting Tech Transfer Between Space and Global Mental Health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Space medicine research using a systematic review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/>
                        </a:rPr>
                        <a:t>AI, mobile apps, sensors, telemedicine, and chatbots can effectively support mental health care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8776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mbria"/>
              </a:rP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950844"/>
            <a:ext cx="10668000" cy="4953000"/>
          </a:xfrm>
        </p:spPr>
        <p:txBody>
          <a:bodyPr>
            <a:normAutofit fontScale="80000"/>
          </a:bodyPr>
          <a:lstStyle/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develop an AI-powered assistant that supports the psychological and physical well-being of astronauts during long-duration space missions.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provide a conversational interaction mechanism that allows astronauts to naturally express stress, fatigue, and daily experiences, and to analyze these interactions to detect emotional and stress levels.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monitor overall well-being trends by integrating emotional indicators with simulated physical parameters such as sleep quality and fatigue levels.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generate a well-being risk score and adaptive support strategies, including relaxation activities and routine guidance, for early identification and mitigation of mental or physical strain.</a:t>
            </a:r>
          </a:p>
          <a:p>
            <a:pPr marL="285750" indent="-285750">
              <a:lnSpc>
                <a:spcPct val="150000"/>
              </a:lnSpc>
            </a:pPr>
            <a:r>
              <a:rPr lang="en-US">
                <a:latin typeface="Cambria"/>
              </a:rPr>
              <a:t>To design and evaluate a privacy-aware, offline-capable web-based system, including a dashboard for visualizing well-being status, trends, and recommendations using simulated mission scenarios.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E770-14A6-0366-64F6-FFE407462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Existing Methods and Drawbacks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AEB49B-0F0F-A784-8AE7-BF16368E9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551645"/>
              </p:ext>
            </p:extLst>
          </p:nvPr>
        </p:nvGraphicFramePr>
        <p:xfrm>
          <a:off x="427789" y="1036052"/>
          <a:ext cx="11430295" cy="49836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59">
                  <a:extLst>
                    <a:ext uri="{9D8B030D-6E8A-4147-A177-3AD203B41FA5}">
                      <a16:colId xmlns:a16="http://schemas.microsoft.com/office/drawing/2014/main" val="3056967159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579647948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1022455313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683097502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764033038"/>
                    </a:ext>
                  </a:extLst>
                </a:gridCol>
              </a:tblGrid>
              <a:tr h="42201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Research Paper &amp; Author(s)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Existing Model / Method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Summary of Approach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Limitations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Critique</a:t>
                      </a: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819056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Space Psychology: A Comprehensive Approach to the Future of Astronaut Well-Being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Annahita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 Nezami (2025) 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Review-based psychological and technological framework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ts val="1200"/>
                        </a:lnSpc>
                        <a:buNone/>
                      </a:pP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Reviews psychological and technological approaches for supporting astronaut mental health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Based entirely on existing literature; lacks experimental or system-level validation.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The approach is conceptual and does not propose a concrete implementation or autonomous support system.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593638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Beyond the Gravity: Exploring Legal Position of Astronauts’ Well-Being in Space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Sardar Ali Shah (2024)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Doctrinal legal research model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Analyzes international space laws, treaties, and regulations related to astronaut well-being.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Addresses legal aspects only, without psychological or technological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Provides policy insight but offers no practical solution for real-time mental health monitoring or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593525"/>
                  </a:ext>
                </a:extLst>
              </a:tr>
              <a:tr h="60451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Psychological Support for Astronauts in Space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Ivan A. (2022)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VR-based psychological support and monitoring system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Uses Virtual Reality, questionnaires, and sleep monitoring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Requires advanced hardware, continuous monitoring, resources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Scalability and feasibility are limited for long-duration.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450308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Human Space Exploration: Benefits to Humanity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-Francesco Pagnini, Francesca Grosso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Space psychology analytical framework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Reviews psychological challenges such as stress and mental strain during long-duration space missions.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Mainly descriptive and analytical; lacks intervention or support mechanisms.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Does not integrate digital or AI-based solutions for proactive mental health management.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983535"/>
                  </a:ext>
                </a:extLst>
              </a:tr>
              <a:tr h="96950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Wearable Health Monitoring for Astronauts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Yi Wang, Delong Dong, Wenjian Zhou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Wearable sensor-based health monitoring model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Studies wearable devices for continuous physiological monitoring of astronauts in space.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Focuses primarily on physical health indicators.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Mental health assessment remains indirect and insufficient for comprehensive psychological evaluation.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50" marR="65150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328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208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3732F-CF71-5AE8-5231-C12FEA8EE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31D1A-12AB-4156-95CC-CEED4A469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Existing Methods and Drawbacks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D8F01B-BAC9-5874-3752-52A1B766F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813300"/>
              </p:ext>
            </p:extLst>
          </p:nvPr>
        </p:nvGraphicFramePr>
        <p:xfrm>
          <a:off x="427789" y="1163052"/>
          <a:ext cx="11430295" cy="483972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6059">
                  <a:extLst>
                    <a:ext uri="{9D8B030D-6E8A-4147-A177-3AD203B41FA5}">
                      <a16:colId xmlns:a16="http://schemas.microsoft.com/office/drawing/2014/main" val="3056967159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579647948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1022455313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683097502"/>
                    </a:ext>
                  </a:extLst>
                </a:gridCol>
                <a:gridCol w="2286059">
                  <a:extLst>
                    <a:ext uri="{9D8B030D-6E8A-4147-A177-3AD203B41FA5}">
                      <a16:colId xmlns:a16="http://schemas.microsoft.com/office/drawing/2014/main" val="2764033038"/>
                    </a:ext>
                  </a:extLst>
                </a:gridCol>
              </a:tblGrid>
              <a:tr h="51754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Research Paper &amp; Author(s)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Existing Model / Method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Summary of Approach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Limitations</a:t>
                      </a:r>
                      <a:endParaRPr lang="en-US" b="1">
                        <a:latin typeface="Cambria"/>
                      </a:endParaRP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00"/>
                        </a:lnSpc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Critique</a:t>
                      </a:r>
                    </a:p>
                  </a:txBody>
                  <a:tcPr marL="65151" marR="65151" marT="32576" marB="32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819056"/>
                  </a:ext>
                </a:extLst>
              </a:tr>
              <a:tr h="65741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Mental Health Technologies for Space Missions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Smith (2023)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Digital mental health framework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Uses VR and AI tools to support astronaut mental health.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Depends on Earth-based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Limited autonomy in deep-space missions.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175847"/>
                  </a:ext>
                </a:extLst>
              </a:tr>
              <a:tr h="85324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Artificial Intelligence and Machine Learning in Space Systems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Russo &amp; Lax (2022)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AI and ML-based intelligent systems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Applies machine learning, and NLP techniques for decision support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Requires large datasets and extensive training.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Reliability and ethical concerns limit direct use in mental health decision-making.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41647"/>
                  </a:ext>
                </a:extLst>
              </a:tr>
              <a:tr h="65741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Autonomous Digital Health Systems for Space Missions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Cypko</a:t>
                      </a: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 et al.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Autonomous digital health and self-management systems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Focuses on prevention, training, and autonomous health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High system complexity and integration challenges.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Strong dependence on system accuracy poses risks in critical environments.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46353"/>
                  </a:ext>
                </a:extLst>
              </a:tr>
              <a:tr h="104907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Emerging Digital Technologies for Mental Health in Space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Wiederhold (2025)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Digital and immersive technology framework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Reviews emerging digital and cyberspace technologies to address in space.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Mostly theoretical with limited empirical evaluation.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Lack of astronaut-centered validation reduces practical applicability.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486211"/>
                  </a:ext>
                </a:extLst>
              </a:tr>
              <a:tr h="110502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Technology Transfer from Space to Earth for Mental Health Care</a:t>
                      </a:r>
                      <a:endParaRPr lang="en-US" sz="1200">
                        <a:latin typeface="Cambri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- Chang (2020) 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AI, telemedicine, and mobile health model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Explores AI, sensors, telemedicine, mobile apps, and chatbots for mental health support.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Generalized solutions not tailored for deep-space missions.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Does not fully address isolation, latency, and autonomy constraints in space.</a:t>
                      </a:r>
                      <a:endParaRPr lang="en-US" sz="1200">
                        <a:latin typeface="Cambria"/>
                      </a:endParaRPr>
                    </a:p>
                  </a:txBody>
                  <a:tcPr marL="65149" marR="65149" marT="32575" marB="32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364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842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D1D8-828A-B3D3-4898-E1C78F921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B8C1A-1658-D736-9434-07712BF69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76200" indent="0">
              <a:buNone/>
            </a:pPr>
            <a:r>
              <a:rPr lang="en-US" b="1" dirty="0">
                <a:latin typeface="Cambria"/>
              </a:rPr>
              <a:t>PROPOSED METHOD</a:t>
            </a:r>
          </a:p>
          <a:p>
            <a:pPr>
              <a:buNone/>
            </a:pPr>
            <a:r>
              <a:rPr lang="en-US" b="1" dirty="0">
                <a:latin typeface="Cambria"/>
              </a:rPr>
              <a:t>1. User Interaction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User enters their emotional text/query through the React-based chat interface.</a:t>
            </a:r>
          </a:p>
          <a:p>
            <a:pPr marL="285750" indent="-285750"/>
            <a:r>
              <a:rPr lang="en-US" dirty="0">
                <a:latin typeface="Cambria"/>
              </a:rPr>
              <a:t>The interface sends the message to the backend using REST API.</a:t>
            </a:r>
          </a:p>
          <a:p>
            <a:pPr marL="0" indent="0">
              <a:buNone/>
            </a:pPr>
            <a:r>
              <a:rPr lang="en-US" b="1" dirty="0">
                <a:latin typeface="Cambria"/>
              </a:rPr>
              <a:t>2. NLP-Based Text Processing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 err="1">
                <a:latin typeface="Cambria"/>
              </a:rPr>
              <a:t>FastAPI</a:t>
            </a:r>
            <a:r>
              <a:rPr lang="en-US" dirty="0">
                <a:latin typeface="Cambria"/>
              </a:rPr>
              <a:t> backend receives the message.</a:t>
            </a:r>
          </a:p>
          <a:p>
            <a:pPr marL="285750" indent="-285750"/>
            <a:r>
              <a:rPr lang="en-US" dirty="0">
                <a:latin typeface="Cambria"/>
              </a:rPr>
              <a:t>Text is cleaned, tokenized, and processed using NLP techniques.</a:t>
            </a:r>
          </a:p>
          <a:p>
            <a:pPr marL="285750" indent="-285750"/>
            <a:r>
              <a:rPr lang="en-US" dirty="0">
                <a:latin typeface="Cambria"/>
              </a:rPr>
              <a:t>Sentiment and emotional tone (stress, sadness, anxiety) are identified.</a:t>
            </a:r>
          </a:p>
          <a:p>
            <a:pPr marL="0" indent="0">
              <a:buNone/>
            </a:pPr>
            <a:r>
              <a:rPr lang="en-US" b="1" dirty="0">
                <a:latin typeface="Cambria"/>
              </a:rPr>
              <a:t>3. Risk Assessment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The analyzed sentiment score is passed into a rule-based engine.</a:t>
            </a:r>
          </a:p>
          <a:p>
            <a:pPr marL="285750" indent="-285750"/>
            <a:r>
              <a:rPr lang="en-US" dirty="0">
                <a:latin typeface="Cambria"/>
              </a:rPr>
              <a:t>The system categorizes the emotional intensity into:</a:t>
            </a:r>
          </a:p>
          <a:p>
            <a:pPr marL="1200150" lvl="1" indent="-285750"/>
            <a:r>
              <a:rPr lang="en-US" dirty="0">
                <a:latin typeface="Cambria"/>
              </a:rPr>
              <a:t>Low risk</a:t>
            </a:r>
            <a:endParaRPr lang="en-US" dirty="0"/>
          </a:p>
          <a:p>
            <a:pPr marL="1200150" lvl="1" indent="-285750"/>
            <a:r>
              <a:rPr lang="en-US" dirty="0">
                <a:latin typeface="Cambria"/>
              </a:rPr>
              <a:t>Moderate risk</a:t>
            </a:r>
            <a:endParaRPr lang="en-US" dirty="0"/>
          </a:p>
          <a:p>
            <a:pPr marL="1200150" lvl="1" indent="-285750"/>
            <a:r>
              <a:rPr lang="en-US" dirty="0">
                <a:latin typeface="Cambria"/>
              </a:rPr>
              <a:t>High risk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85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7C1E3-75FC-918D-20E0-93B3838C7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B114-D209-25DD-92A3-0EC1E98F2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F8F32-6C62-4575-6070-8ABBF694C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latin typeface="Cambria"/>
              </a:rPr>
              <a:t>4. Suggestion Generation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Based on emotional category, the Suggestion Engine provides:</a:t>
            </a:r>
          </a:p>
          <a:p>
            <a:pPr lvl="1"/>
            <a:r>
              <a:rPr lang="en-US" dirty="0">
                <a:latin typeface="Cambria"/>
              </a:rPr>
              <a:t>Coping strategies</a:t>
            </a:r>
          </a:p>
          <a:p>
            <a:pPr lvl="1"/>
            <a:r>
              <a:rPr lang="en-US" dirty="0">
                <a:latin typeface="Cambria"/>
              </a:rPr>
              <a:t>Relaxation/breathing techniques</a:t>
            </a:r>
          </a:p>
          <a:p>
            <a:pPr lvl="1"/>
            <a:r>
              <a:rPr lang="en-US" dirty="0">
                <a:latin typeface="Cambria"/>
              </a:rPr>
              <a:t>Positive reinforcement</a:t>
            </a:r>
          </a:p>
          <a:p>
            <a:pPr lvl="1"/>
            <a:r>
              <a:rPr lang="en-US" dirty="0">
                <a:latin typeface="Cambria"/>
              </a:rPr>
              <a:t>Emergency help message (if risk is high)</a:t>
            </a:r>
          </a:p>
          <a:p>
            <a:pPr marL="0" indent="0">
              <a:buNone/>
            </a:pPr>
            <a:r>
              <a:rPr lang="en-US" sz="2400" b="1" dirty="0">
                <a:latin typeface="Cambria"/>
              </a:rPr>
              <a:t>5. Response Delivery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dirty="0">
                <a:latin typeface="Cambria"/>
              </a:rPr>
              <a:t>The backend sends the final structured response back to the React UI.</a:t>
            </a:r>
          </a:p>
          <a:p>
            <a:pPr marL="285750" indent="-285750"/>
            <a:r>
              <a:rPr lang="en-US" dirty="0">
                <a:latin typeface="Cambria"/>
              </a:rPr>
              <a:t>The user sees:</a:t>
            </a:r>
          </a:p>
          <a:p>
            <a:pPr lvl="1"/>
            <a:r>
              <a:rPr lang="en-US" dirty="0">
                <a:latin typeface="Cambria"/>
              </a:rPr>
              <a:t>System-generated support message</a:t>
            </a:r>
          </a:p>
          <a:p>
            <a:pPr lvl="1"/>
            <a:r>
              <a:rPr lang="en-US" dirty="0">
                <a:latin typeface="Cambria"/>
              </a:rPr>
              <a:t>Suggested activities/techniques</a:t>
            </a:r>
          </a:p>
          <a:p>
            <a:pPr lvl="1"/>
            <a:r>
              <a:rPr lang="en-US" dirty="0">
                <a:latin typeface="Cambria"/>
              </a:rPr>
              <a:t>Emotional insights</a:t>
            </a:r>
          </a:p>
          <a:p>
            <a:pPr marL="0" indent="0">
              <a:buNone/>
            </a:pPr>
            <a:r>
              <a:rPr lang="en-US" sz="2400" b="1" dirty="0">
                <a:latin typeface="Cambria"/>
              </a:rPr>
              <a:t>6. Optional Logging</a:t>
            </a:r>
            <a:endParaRPr lang="en-US" b="1" dirty="0">
              <a:latin typeface="Cambria"/>
            </a:endParaRPr>
          </a:p>
          <a:p>
            <a:pPr marL="342900" indent="-342900"/>
            <a:r>
              <a:rPr lang="en-US" dirty="0">
                <a:latin typeface="Cambria"/>
              </a:rPr>
              <a:t>Conversation history and sentiment scores may be stored in the SQLite database for future analysis.</a:t>
            </a:r>
          </a:p>
          <a:p>
            <a:pPr>
              <a:buNone/>
            </a:pPr>
            <a:endParaRPr lang="en-US" b="1" dirty="0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27459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35388-753F-2C2F-DE6C-298586F90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99A2-1D3B-4278-B70B-8E165943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D18D1-E463-59CC-7D63-622BA1867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67674"/>
            <a:ext cx="10668000" cy="528721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200" b="1">
                <a:latin typeface="Cambria"/>
              </a:rPr>
              <a:t>FEASIBILITY STUDY</a:t>
            </a:r>
            <a:endParaRPr lang="en-US" sz="3200">
              <a:latin typeface="Cambria"/>
            </a:endParaRPr>
          </a:p>
          <a:p>
            <a:pPr>
              <a:buNone/>
            </a:pPr>
            <a:r>
              <a:rPr lang="en-US" sz="2200" b="1">
                <a:latin typeface="Cambria"/>
              </a:rPr>
              <a:t>1. Technical Feasibility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Frontend</a:t>
            </a:r>
            <a:r>
              <a:rPr lang="en-US" sz="2200">
                <a:latin typeface="Cambria"/>
              </a:rPr>
              <a:t>: React + Tailwind - widely supported, easy to develop, fast.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Backend</a:t>
            </a:r>
            <a:r>
              <a:rPr lang="en-US" sz="2200">
                <a:latin typeface="Cambria"/>
              </a:rPr>
              <a:t>: </a:t>
            </a:r>
            <a:r>
              <a:rPr lang="en-US" sz="2200" err="1">
                <a:latin typeface="Cambria"/>
              </a:rPr>
              <a:t>FastAPI</a:t>
            </a:r>
            <a:r>
              <a:rPr lang="en-US" sz="2200">
                <a:latin typeface="Cambria"/>
              </a:rPr>
              <a:t> - lightweight, high-performance Python framework.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NLP Models</a:t>
            </a:r>
            <a:r>
              <a:rPr lang="en-US" sz="2200">
                <a:latin typeface="Cambria"/>
              </a:rPr>
              <a:t>: Uses simple sentiment analysis and rule-based logic - no heavy GPU required.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Database</a:t>
            </a:r>
            <a:r>
              <a:rPr lang="en-US" sz="2200">
                <a:latin typeface="Cambria"/>
              </a:rPr>
              <a:t>: SQLite - lightweight, file-based, easy to integrate.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 b="1">
                <a:latin typeface="Cambria"/>
              </a:rPr>
              <a:t>Hosting</a:t>
            </a:r>
            <a:r>
              <a:rPr lang="en-US" sz="2200">
                <a:latin typeface="Cambria"/>
              </a:rPr>
              <a:t>: Can run on any cloud platform (Render, Railway, Azure).</a:t>
            </a:r>
            <a:br>
              <a:rPr lang="en-US" sz="2200">
                <a:latin typeface="Cambria"/>
              </a:rPr>
            </a:br>
            <a:r>
              <a:rPr lang="en-US" sz="2200">
                <a:latin typeface="Cambria"/>
              </a:rPr>
              <a:t> - </a:t>
            </a:r>
            <a:r>
              <a:rPr lang="en-US" sz="2200" b="1">
                <a:latin typeface="Cambria"/>
              </a:rPr>
              <a:t>Conclusion:</a:t>
            </a:r>
            <a:r>
              <a:rPr lang="en-US" sz="2200">
                <a:latin typeface="Cambria"/>
              </a:rPr>
              <a:t> All required tools are open-source and beginner-friendly, making technical implementation fully feasible.</a:t>
            </a:r>
            <a:endParaRPr lang="en-US">
              <a:latin typeface="Cambria"/>
            </a:endParaRPr>
          </a:p>
          <a:p>
            <a:pPr>
              <a:buNone/>
            </a:pPr>
            <a:r>
              <a:rPr lang="en-US" sz="2200" b="1">
                <a:latin typeface="Cambria"/>
              </a:rPr>
              <a:t>2. Operational Feasibility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Users can easily interact with the chatbot-style UI.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No complicated onboarding or training required.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MAITRI provides instant emotional support, which improves the likelihood of regular usage.</a:t>
            </a:r>
            <a:br>
              <a:rPr lang="en-US" sz="2200">
                <a:latin typeface="Cambria"/>
              </a:rPr>
            </a:br>
            <a:r>
              <a:rPr lang="en-US" sz="2200">
                <a:latin typeface="Cambria"/>
              </a:rPr>
              <a:t> - </a:t>
            </a:r>
            <a:r>
              <a:rPr lang="en-US" sz="2200" b="1">
                <a:latin typeface="Cambria"/>
              </a:rPr>
              <a:t>Conclusion:</a:t>
            </a:r>
            <a:r>
              <a:rPr lang="en-US" sz="2200">
                <a:latin typeface="Cambria"/>
              </a:rPr>
              <a:t> The system is simple to use, making operational feasibility high.</a:t>
            </a:r>
            <a:endParaRPr lang="en-US">
              <a:latin typeface="Cambria"/>
            </a:endParaRPr>
          </a:p>
          <a:p>
            <a:pPr>
              <a:buNone/>
            </a:pPr>
            <a:r>
              <a:rPr lang="en-US" sz="2200" b="1">
                <a:latin typeface="Cambria"/>
              </a:rPr>
              <a:t>3. Economic Feasibility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Uses open-source tools (React, </a:t>
            </a:r>
            <a:r>
              <a:rPr lang="en-US" sz="2200" err="1">
                <a:latin typeface="Cambria"/>
              </a:rPr>
              <a:t>FastAPI</a:t>
            </a:r>
            <a:r>
              <a:rPr lang="en-US" sz="2200">
                <a:latin typeface="Cambria"/>
              </a:rPr>
              <a:t>, Python, Tailwind).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No paid APIs or external services required for baseline functionality.</a:t>
            </a:r>
            <a:endParaRPr lang="en-US">
              <a:latin typeface="Cambria"/>
            </a:endParaRPr>
          </a:p>
          <a:p>
            <a:pPr marL="285750" indent="-285750"/>
            <a:r>
              <a:rPr lang="en-US" sz="2200">
                <a:latin typeface="Cambria"/>
              </a:rPr>
              <a:t>Hosting cost is minimal - can be deployed on free/low-cost cloud tiers.</a:t>
            </a:r>
            <a:br>
              <a:rPr lang="en-US" sz="2200">
                <a:latin typeface="Cambria"/>
              </a:rPr>
            </a:br>
            <a:r>
              <a:rPr lang="en-US" sz="2200">
                <a:latin typeface="Cambria"/>
              </a:rPr>
              <a:t> - </a:t>
            </a:r>
            <a:r>
              <a:rPr lang="en-US" sz="2200" b="1">
                <a:latin typeface="Cambria"/>
              </a:rPr>
              <a:t>Conclusion:</a:t>
            </a:r>
            <a:r>
              <a:rPr lang="en-US" sz="2200">
                <a:latin typeface="Cambria"/>
              </a:rPr>
              <a:t> Cost of development and maintenance is extremely low → economically feasible.</a:t>
            </a:r>
            <a:endParaRPr lang="en-US">
              <a:latin typeface="Cambria"/>
            </a:endParaRPr>
          </a:p>
          <a:p>
            <a:pPr>
              <a:buNone/>
            </a:pPr>
            <a:endParaRPr lang="en-US" sz="2200" b="1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76188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AD95-E8A6-71EE-449D-4344EE8C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0FBC3-A299-9ED1-9A00-2BA29785B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Proposed Method &amp; Feasibility Study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6BEF2-E6B8-6A0E-BC28-F1C8872C9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200" b="1" dirty="0">
                <a:latin typeface="Cambria"/>
              </a:rPr>
              <a:t>4. Schedule Feasibility</a:t>
            </a:r>
            <a:endParaRPr lang="en-US" dirty="0">
              <a:latin typeface="Cambria"/>
            </a:endParaRPr>
          </a:p>
          <a:p>
            <a:pPr>
              <a:buNone/>
            </a:pPr>
            <a:r>
              <a:rPr lang="en-US" sz="2200" dirty="0">
                <a:latin typeface="Cambria"/>
              </a:rPr>
              <a:t>The project modules can be completed within the academic timeline:</a:t>
            </a:r>
            <a:endParaRPr lang="en-US" dirty="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endParaRPr lang="en-US" sz="2200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endParaRPr lang="en-US" sz="2200" b="1">
              <a:latin typeface="Cambria"/>
            </a:endParaRPr>
          </a:p>
          <a:p>
            <a:pPr marL="76200" indent="0">
              <a:buNone/>
            </a:pPr>
            <a:r>
              <a:rPr lang="en-US" sz="2200" b="1" dirty="0">
                <a:latin typeface="Cambria"/>
              </a:rPr>
              <a:t>Conclusion:</a:t>
            </a:r>
            <a:r>
              <a:rPr lang="en-US" sz="2200" dirty="0">
                <a:latin typeface="Cambria"/>
              </a:rPr>
              <a:t> The project can be fully completed before final review.</a:t>
            </a:r>
          </a:p>
          <a:p>
            <a:pPr marL="76200" indent="0">
              <a:buNone/>
            </a:pPr>
            <a:endParaRPr lang="en-US" sz="2200">
              <a:latin typeface="Cambria"/>
            </a:endParaRPr>
          </a:p>
          <a:p>
            <a:pPr>
              <a:buNone/>
            </a:pPr>
            <a:r>
              <a:rPr lang="en-US" b="1" dirty="0">
                <a:latin typeface="Cambria"/>
              </a:rPr>
              <a:t>5. Future Feasibility</a:t>
            </a:r>
            <a:endParaRPr lang="en-US" dirty="0">
              <a:latin typeface="Cambria"/>
            </a:endParaRPr>
          </a:p>
          <a:p>
            <a:pPr marL="285750" indent="-285750"/>
            <a:r>
              <a:rPr lang="en-US" sz="2200" dirty="0">
                <a:latin typeface="Cambria"/>
              </a:rPr>
              <a:t>Can scale with more features:</a:t>
            </a:r>
            <a:endParaRPr lang="en-US" dirty="0">
              <a:latin typeface="Cambria"/>
            </a:endParaRPr>
          </a:p>
          <a:p>
            <a:pPr lvl="1"/>
            <a:r>
              <a:rPr lang="en-US" sz="1800" dirty="0">
                <a:latin typeface="Cambria"/>
              </a:rPr>
              <a:t>Deep-learning based sentiment models</a:t>
            </a:r>
          </a:p>
          <a:p>
            <a:pPr lvl="1"/>
            <a:r>
              <a:rPr lang="en-US" sz="1800" dirty="0">
                <a:latin typeface="Cambria"/>
              </a:rPr>
              <a:t>Cloud deployment</a:t>
            </a:r>
          </a:p>
          <a:p>
            <a:pPr lvl="1"/>
            <a:r>
              <a:rPr lang="en-US" sz="1800" dirty="0">
                <a:latin typeface="Cambria"/>
              </a:rPr>
              <a:t>Voice input</a:t>
            </a:r>
          </a:p>
          <a:p>
            <a:pPr lvl="1"/>
            <a:r>
              <a:rPr lang="en-US" sz="1800" dirty="0">
                <a:latin typeface="Cambria"/>
              </a:rPr>
              <a:t>Personalized insights</a:t>
            </a:r>
          </a:p>
          <a:p>
            <a:pPr marL="0" indent="0">
              <a:buNone/>
            </a:pPr>
            <a:r>
              <a:rPr lang="en-US" sz="2200" b="1" dirty="0">
                <a:latin typeface="Cambria"/>
              </a:rPr>
              <a:t>Conclusion</a:t>
            </a:r>
            <a:r>
              <a:rPr lang="en-US" sz="2200" dirty="0">
                <a:latin typeface="Cambria"/>
              </a:rPr>
              <a:t>: High potential for future expansion.</a:t>
            </a:r>
            <a:endParaRPr lang="en-US" dirty="0">
              <a:latin typeface="Cambri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C43019-03D4-74D0-89D9-7DF0C0205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338557"/>
              </p:ext>
            </p:extLst>
          </p:nvPr>
        </p:nvGraphicFramePr>
        <p:xfrm>
          <a:off x="2065154" y="1762392"/>
          <a:ext cx="816864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1516975679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1259800975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6356879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mbria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mbria"/>
                        </a:rP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mbria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46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Frontend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1-2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Started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632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Backend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74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NLP + Risk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1-2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026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Integration &amp;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mbria"/>
                        </a:rP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189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125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10B2-D178-48B2-581B-C84FB5A48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Architecture Diagram</a:t>
            </a: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5BBD2C2B-D3D1-D20D-1532-F186F23D7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245" y="0"/>
            <a:ext cx="551641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6A74F1-FAA4-636B-B8EF-7E483C0943F3}"/>
              </a:ext>
            </a:extLst>
          </p:cNvPr>
          <p:cNvSpPr txBox="1"/>
          <p:nvPr/>
        </p:nvSpPr>
        <p:spPr>
          <a:xfrm>
            <a:off x="812435" y="2231311"/>
            <a:ext cx="507149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latin typeface="Cambria"/>
                <a:ea typeface="Cambria"/>
              </a:rPr>
              <a:t>MAITRI – System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3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707BE-F823-E29B-A3B7-49BB358A0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8C2F4-131E-7776-2D2E-A0C865CD7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048594"/>
            <a:ext cx="5124956" cy="543177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>
                <a:latin typeface="Cambria"/>
              </a:rPr>
              <a:t>User Authentication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User Registration</a:t>
            </a:r>
          </a:p>
          <a:p>
            <a:pPr marL="285750" indent="-285750"/>
            <a:r>
              <a:rPr lang="en-US">
                <a:latin typeface="Cambria"/>
              </a:rPr>
              <a:t>User Login</a:t>
            </a:r>
          </a:p>
          <a:p>
            <a:pPr marL="285750" indent="-285750"/>
            <a:r>
              <a:rPr lang="en-US">
                <a:latin typeface="Cambria"/>
              </a:rPr>
              <a:t>Password reset</a:t>
            </a:r>
          </a:p>
          <a:p>
            <a:pPr marL="285750" indent="-285750"/>
            <a:r>
              <a:rPr lang="en-US">
                <a:latin typeface="Cambria"/>
              </a:rPr>
              <a:t>Secure token-based session handling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 Mood Tracking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Daily mood input (emoji/text)</a:t>
            </a:r>
          </a:p>
          <a:p>
            <a:pPr marL="285750" indent="-285750"/>
            <a:r>
              <a:rPr lang="en-US">
                <a:latin typeface="Cambria"/>
              </a:rPr>
              <a:t>Store mood history</a:t>
            </a:r>
          </a:p>
          <a:p>
            <a:pPr marL="285750" indent="-285750"/>
            <a:r>
              <a:rPr lang="en-US">
                <a:latin typeface="Cambria"/>
              </a:rPr>
              <a:t>View past trends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 </a:t>
            </a:r>
            <a:endParaRPr lang="en-US">
              <a:latin typeface="Cambria"/>
            </a:endParaRPr>
          </a:p>
          <a:p>
            <a:pPr marL="76200" indent="0">
              <a:buNone/>
            </a:pPr>
            <a:endParaRPr lang="en-US">
              <a:latin typeface="Cambria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E8E3DB7-78D9-D106-0F95-34128F322A06}"/>
              </a:ext>
            </a:extLst>
          </p:cNvPr>
          <p:cNvSpPr txBox="1">
            <a:spLocks/>
          </p:cNvSpPr>
          <p:nvPr/>
        </p:nvSpPr>
        <p:spPr>
          <a:xfrm>
            <a:off x="6589165" y="1045897"/>
            <a:ext cx="5475610" cy="54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buNone/>
            </a:pPr>
            <a:r>
              <a:rPr lang="en-US" b="1">
                <a:latin typeface="Cambria"/>
              </a:rPr>
              <a:t> AI Mental Health Assistant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Chat interface</a:t>
            </a:r>
          </a:p>
          <a:p>
            <a:pPr marL="285750" indent="-285750"/>
            <a:r>
              <a:rPr lang="en-US">
                <a:latin typeface="Cambria"/>
              </a:rPr>
              <a:t>AI-generated responses</a:t>
            </a:r>
          </a:p>
          <a:p>
            <a:pPr marL="285750" indent="-285750"/>
            <a:r>
              <a:rPr lang="en-US">
                <a:latin typeface="Cambria"/>
              </a:rPr>
              <a:t>Context-based conversation</a:t>
            </a:r>
          </a:p>
          <a:p>
            <a:pPr marL="285750" indent="-285750"/>
            <a:r>
              <a:rPr lang="en-US">
                <a:latin typeface="Cambria"/>
              </a:rPr>
              <a:t>Emotion-aware feedback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 Journal &amp; Notes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Add personal journal entries</a:t>
            </a:r>
          </a:p>
          <a:p>
            <a:pPr marL="285750" indent="-285750"/>
            <a:r>
              <a:rPr lang="en-US">
                <a:latin typeface="Cambria"/>
              </a:rPr>
              <a:t>Edit / Delete entries</a:t>
            </a:r>
          </a:p>
          <a:p>
            <a:pPr marL="285750" indent="-285750"/>
            <a:r>
              <a:rPr lang="en-US">
                <a:latin typeface="Cambria"/>
              </a:rPr>
              <a:t>View journal history</a:t>
            </a:r>
          </a:p>
          <a:p>
            <a:pPr>
              <a:buFont typeface="Arial" panose="020B0604020202020204"/>
              <a:buNone/>
            </a:pPr>
            <a:endParaRPr lang="en-US" b="1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79273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1E5DA-4C0A-D8EA-9E77-630B90191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CFF60-7013-0251-2B01-5297D174D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Modules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669F1-AFBF-5013-B18F-B10C049FE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048594"/>
            <a:ext cx="5124956" cy="54317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>
                <a:latin typeface="Cambria"/>
                <a:ea typeface="Cambria"/>
              </a:rPr>
              <a:t>Crisis Support Module</a:t>
            </a:r>
            <a:endParaRPr lang="en-US">
              <a:latin typeface="Cambria"/>
              <a:ea typeface="Cambria"/>
            </a:endParaRPr>
          </a:p>
          <a:p>
            <a:pPr marL="285750" indent="-285750"/>
            <a:r>
              <a:rPr lang="en-US">
                <a:latin typeface="Cambria"/>
                <a:ea typeface="Cambria"/>
              </a:rPr>
              <a:t>SOS helplines</a:t>
            </a:r>
          </a:p>
          <a:p>
            <a:pPr marL="285750" indent="-285750"/>
            <a:r>
              <a:rPr lang="en-US">
                <a:latin typeface="Cambria"/>
                <a:ea typeface="Cambria"/>
              </a:rPr>
              <a:t>Emergency contact list</a:t>
            </a:r>
          </a:p>
          <a:p>
            <a:pPr marL="285750" indent="-285750"/>
            <a:r>
              <a:rPr lang="en-US">
                <a:latin typeface="Cambria"/>
                <a:ea typeface="Cambria"/>
              </a:rPr>
              <a:t>Quick-access support resources</a:t>
            </a:r>
          </a:p>
          <a:p>
            <a:pPr>
              <a:buNone/>
            </a:pPr>
            <a:endParaRPr lang="en-US" b="1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Personalized Recommendation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Mental wellness tips</a:t>
            </a:r>
          </a:p>
          <a:p>
            <a:pPr marL="285750" indent="-285750"/>
            <a:r>
              <a:rPr lang="en-US">
                <a:latin typeface="Cambria"/>
              </a:rPr>
              <a:t>Breathing exercises</a:t>
            </a:r>
          </a:p>
          <a:p>
            <a:pPr marL="285750" indent="-285750"/>
            <a:r>
              <a:rPr lang="en-US">
                <a:latin typeface="Cambria"/>
              </a:rPr>
              <a:t>Quotes / Affirmations</a:t>
            </a:r>
          </a:p>
          <a:p>
            <a:pPr marL="285750" indent="-285750"/>
            <a:r>
              <a:rPr lang="en-US">
                <a:latin typeface="Cambria"/>
              </a:rPr>
              <a:t>Recommendations based on mood patterns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91CA906-D0E2-1777-18BD-046CBBD73131}"/>
              </a:ext>
            </a:extLst>
          </p:cNvPr>
          <p:cNvSpPr txBox="1">
            <a:spLocks/>
          </p:cNvSpPr>
          <p:nvPr/>
        </p:nvSpPr>
        <p:spPr>
          <a:xfrm>
            <a:off x="6589165" y="1045897"/>
            <a:ext cx="5475610" cy="54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>
              <a:buNone/>
            </a:pPr>
            <a:r>
              <a:rPr lang="en-US" b="1">
                <a:latin typeface="Cambria"/>
              </a:rPr>
              <a:t>Notification &amp; Reminder Module</a:t>
            </a:r>
            <a:endParaRPr lang="en-US">
              <a:latin typeface="Cambria"/>
            </a:endParaRPr>
          </a:p>
          <a:p>
            <a:pPr marL="285750" indent="-285750"/>
            <a:r>
              <a:rPr lang="en-US">
                <a:latin typeface="Cambria"/>
              </a:rPr>
              <a:t>Daily mood check-in reminder</a:t>
            </a:r>
          </a:p>
          <a:p>
            <a:pPr marL="285750" indent="-285750"/>
            <a:r>
              <a:rPr lang="en-US">
                <a:latin typeface="Cambria"/>
              </a:rPr>
              <a:t>Journaling reminder</a:t>
            </a:r>
          </a:p>
          <a:p>
            <a:pPr marL="285750" indent="-285750"/>
            <a:r>
              <a:rPr lang="en-US">
                <a:latin typeface="Cambria"/>
              </a:rPr>
              <a:t>Wellness practice reminder </a:t>
            </a:r>
            <a:br>
              <a:rPr lang="en-US">
                <a:latin typeface="Cambria"/>
              </a:rPr>
            </a:br>
            <a:endParaRPr lang="en-US">
              <a:latin typeface="Cambria"/>
            </a:endParaRPr>
          </a:p>
          <a:p>
            <a:pPr>
              <a:buNone/>
            </a:pPr>
            <a:r>
              <a:rPr lang="en-US" b="1">
                <a:latin typeface="Cambria"/>
              </a:rPr>
              <a:t> Admin Dashboard</a:t>
            </a:r>
          </a:p>
          <a:p>
            <a:pPr marL="285750" indent="-285750"/>
            <a:r>
              <a:rPr lang="en-US">
                <a:latin typeface="Cambria"/>
              </a:rPr>
              <a:t>View system usage</a:t>
            </a:r>
          </a:p>
          <a:p>
            <a:pPr marL="285750" indent="-285750"/>
            <a:r>
              <a:rPr lang="en-US">
                <a:latin typeface="Cambria"/>
              </a:rPr>
              <a:t>Manage user feedback</a:t>
            </a:r>
          </a:p>
          <a:p>
            <a:pPr marL="285750" indent="-285750"/>
            <a:r>
              <a:rPr lang="en-US">
                <a:latin typeface="Cambria"/>
              </a:rPr>
              <a:t>Basic analytics</a:t>
            </a:r>
          </a:p>
          <a:p>
            <a:pPr>
              <a:buFont typeface="Arial" panose="020B0604020202020204"/>
              <a:buNone/>
            </a:pPr>
            <a:endParaRPr lang="en-US" b="1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709708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3DD3-E8AD-E31B-B05E-2D319139D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Hardware and Software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174AB-9070-56DC-B987-1FE06AAEC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b="1">
                <a:latin typeface="Cambria"/>
              </a:rPr>
              <a:t>HARDWARE REQUIREMENTS</a:t>
            </a:r>
          </a:p>
          <a:p>
            <a:r>
              <a:rPr lang="en-US" sz="1800" b="1">
                <a:latin typeface="Cambria"/>
              </a:rPr>
              <a:t>Processor:</a:t>
            </a:r>
            <a:r>
              <a:rPr lang="en-US" sz="1800">
                <a:latin typeface="Cambria"/>
              </a:rPr>
              <a:t> Intel Core i5</a:t>
            </a:r>
          </a:p>
          <a:p>
            <a:r>
              <a:rPr lang="en-US" sz="1800" b="1">
                <a:latin typeface="Cambria"/>
              </a:rPr>
              <a:t>RAM:</a:t>
            </a:r>
            <a:r>
              <a:rPr lang="en-US" sz="1800">
                <a:latin typeface="Cambria"/>
              </a:rPr>
              <a:t> 8 GB </a:t>
            </a:r>
          </a:p>
          <a:p>
            <a:r>
              <a:rPr lang="en-US" sz="1800" b="1">
                <a:latin typeface="Cambria"/>
              </a:rPr>
              <a:t>Storage:</a:t>
            </a:r>
            <a:r>
              <a:rPr lang="en-US" sz="1800">
                <a:latin typeface="Cambria"/>
              </a:rPr>
              <a:t> 20–30 GB free space</a:t>
            </a:r>
          </a:p>
          <a:p>
            <a:r>
              <a:rPr lang="en-US" sz="1800" b="1">
                <a:latin typeface="Cambria"/>
              </a:rPr>
              <a:t>Operating System:</a:t>
            </a:r>
            <a:r>
              <a:rPr lang="en-US" sz="1800">
                <a:latin typeface="Cambria"/>
              </a:rPr>
              <a:t> Windows 10/11, macOS, or Ubuntu Linux</a:t>
            </a:r>
          </a:p>
          <a:p>
            <a:r>
              <a:rPr lang="en-US" sz="1800" b="1">
                <a:latin typeface="Cambria"/>
              </a:rPr>
              <a:t>Display:</a:t>
            </a:r>
            <a:r>
              <a:rPr lang="en-US" sz="1800">
                <a:latin typeface="Cambria"/>
              </a:rPr>
              <a:t> 1080p resolution</a:t>
            </a:r>
          </a:p>
          <a:p>
            <a:pPr marL="76200" indent="0">
              <a:buNone/>
            </a:pPr>
            <a:r>
              <a:rPr lang="en-US" b="1">
                <a:latin typeface="Cambria"/>
              </a:rPr>
              <a:t>SOFTWARE REQUIREMENTS</a:t>
            </a:r>
          </a:p>
          <a:p>
            <a:pPr marL="76200" indent="0">
              <a:buNone/>
            </a:pPr>
            <a:r>
              <a:rPr lang="en-US">
                <a:latin typeface="Cambria"/>
              </a:rPr>
              <a:t>Frontend Technologies</a:t>
            </a:r>
          </a:p>
          <a:p>
            <a:r>
              <a:rPr lang="en-US" sz="1800" b="1">
                <a:latin typeface="Cambria"/>
              </a:rPr>
              <a:t>React.js</a:t>
            </a:r>
            <a:r>
              <a:rPr lang="en-US" sz="1800">
                <a:latin typeface="Cambria"/>
              </a:rPr>
              <a:t> – User interface development</a:t>
            </a:r>
          </a:p>
          <a:p>
            <a:r>
              <a:rPr lang="en-US" sz="1800" b="1">
                <a:latin typeface="Cambria"/>
              </a:rPr>
              <a:t>Tailwind CSS / CSS</a:t>
            </a:r>
            <a:r>
              <a:rPr lang="en-US" sz="1800">
                <a:latin typeface="Cambria"/>
              </a:rPr>
              <a:t> – Styling</a:t>
            </a:r>
          </a:p>
          <a:p>
            <a:r>
              <a:rPr lang="en-US" sz="1800" b="1">
                <a:latin typeface="Cambria"/>
              </a:rPr>
              <a:t>JavaScript (ES6+)</a:t>
            </a:r>
          </a:p>
          <a:p>
            <a:r>
              <a:rPr lang="en-US" sz="1800" b="1" err="1">
                <a:latin typeface="Cambria"/>
              </a:rPr>
              <a:t>npm</a:t>
            </a:r>
            <a:r>
              <a:rPr lang="en-US" sz="1800" b="1">
                <a:latin typeface="Cambria"/>
              </a:rPr>
              <a:t> / Node.js</a:t>
            </a:r>
            <a:r>
              <a:rPr lang="en-US" sz="1800">
                <a:latin typeface="Cambria"/>
              </a:rPr>
              <a:t> – Dependency management</a:t>
            </a:r>
          </a:p>
          <a:p>
            <a:pPr marL="76200" indent="0">
              <a:buNone/>
            </a:pPr>
            <a:endParaRPr lang="en-US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29484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E2D7A-0115-250D-922B-3A1827103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D16BE-1A45-7315-19FA-26239E10A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Hardware and Software Details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8AD91-7662-15F8-4EDD-FF80F1B0A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>
                <a:latin typeface="Cambria"/>
              </a:rPr>
              <a:t>Backend Technologies</a:t>
            </a:r>
            <a:endParaRPr lang="en-US">
              <a:latin typeface="Cambria"/>
            </a:endParaRPr>
          </a:p>
          <a:p>
            <a:pPr marL="285750" indent="-285750"/>
            <a:r>
              <a:rPr lang="en-US" sz="1800" b="1">
                <a:latin typeface="Cambria"/>
              </a:rPr>
              <a:t>Python 3.10+</a:t>
            </a:r>
            <a:endParaRPr lang="en-US" sz="1800">
              <a:latin typeface="Cambria"/>
            </a:endParaRPr>
          </a:p>
          <a:p>
            <a:pPr marL="285750" indent="-285750"/>
            <a:r>
              <a:rPr lang="en-US" sz="1800" b="1" err="1">
                <a:latin typeface="Cambria"/>
              </a:rPr>
              <a:t>FastAPI</a:t>
            </a:r>
            <a:r>
              <a:rPr lang="en-US" sz="1800">
                <a:latin typeface="Cambria"/>
              </a:rPr>
              <a:t> – RESTful backend framework</a:t>
            </a:r>
          </a:p>
          <a:p>
            <a:pPr marL="285750" indent="-285750"/>
            <a:r>
              <a:rPr lang="en-US" sz="1800" b="1" err="1">
                <a:latin typeface="Cambria"/>
              </a:rPr>
              <a:t>Uvicorn</a:t>
            </a:r>
            <a:r>
              <a:rPr lang="en-US" sz="1800">
                <a:latin typeface="Cambria"/>
              </a:rPr>
              <a:t> – ASGI server</a:t>
            </a:r>
          </a:p>
          <a:p>
            <a:pPr marL="285750" indent="-285750"/>
            <a:r>
              <a:rPr lang="en-US" sz="1800" b="1" err="1">
                <a:latin typeface="Cambria"/>
              </a:rPr>
              <a:t>Pydantic</a:t>
            </a:r>
            <a:r>
              <a:rPr lang="en-US" sz="1800">
                <a:latin typeface="Cambria"/>
              </a:rPr>
              <a:t> – Request validation</a:t>
            </a:r>
          </a:p>
          <a:p>
            <a:pPr marL="285750" indent="-285750"/>
            <a:r>
              <a:rPr lang="en-US" sz="1800" b="1">
                <a:latin typeface="Cambria"/>
              </a:rPr>
              <a:t>Postman</a:t>
            </a:r>
            <a:r>
              <a:rPr lang="en-US" sz="1800">
                <a:latin typeface="Cambria"/>
              </a:rPr>
              <a:t> – API testing</a:t>
            </a:r>
          </a:p>
          <a:p>
            <a:pPr>
              <a:buNone/>
            </a:pPr>
            <a:r>
              <a:rPr lang="en-US" b="1">
                <a:latin typeface="Cambria"/>
              </a:rPr>
              <a:t>NLP &amp; AI Components</a:t>
            </a:r>
            <a:endParaRPr lang="en-US">
              <a:latin typeface="Cambria"/>
            </a:endParaRPr>
          </a:p>
          <a:p>
            <a:pPr marL="285750" indent="-285750"/>
            <a:r>
              <a:rPr lang="en-US" sz="1800" b="1" err="1">
                <a:latin typeface="Cambria"/>
              </a:rPr>
              <a:t>SpaCy</a:t>
            </a:r>
            <a:r>
              <a:rPr lang="en-US" sz="1800">
                <a:latin typeface="Cambria"/>
              </a:rPr>
              <a:t> – Text preprocessing</a:t>
            </a:r>
          </a:p>
          <a:p>
            <a:pPr marL="285750" indent="-285750"/>
            <a:r>
              <a:rPr lang="en-US" sz="1800" b="1">
                <a:latin typeface="Cambria"/>
              </a:rPr>
              <a:t>VADER</a:t>
            </a:r>
            <a:r>
              <a:rPr lang="en-US" sz="1800">
                <a:latin typeface="Cambria"/>
              </a:rPr>
              <a:t> – Sentiment analysis</a:t>
            </a:r>
          </a:p>
          <a:p>
            <a:pPr marL="285750" indent="-285750"/>
            <a:r>
              <a:rPr lang="en-US" sz="1800" b="1">
                <a:latin typeface="Cambria"/>
              </a:rPr>
              <a:t>Custom Rule-based Engine</a:t>
            </a:r>
            <a:r>
              <a:rPr lang="en-US" sz="1800">
                <a:latin typeface="Cambria"/>
              </a:rPr>
              <a:t> – Stress &amp; risk evaluation</a:t>
            </a:r>
          </a:p>
          <a:p>
            <a:pPr marL="285750" indent="-285750"/>
            <a:r>
              <a:rPr lang="en-US" sz="1800" b="1">
                <a:latin typeface="Cambria"/>
              </a:rPr>
              <a:t>Suggestion Engine</a:t>
            </a:r>
            <a:r>
              <a:rPr lang="en-US" sz="1800">
                <a:latin typeface="Cambria"/>
              </a:rPr>
              <a:t> – Mental health tips &amp; coping strategies</a:t>
            </a:r>
          </a:p>
        </p:txBody>
      </p:sp>
    </p:spTree>
    <p:extLst>
      <p:ext uri="{BB962C8B-B14F-4D97-AF65-F5344CB8AC3E}">
        <p14:creationId xmlns:p14="http://schemas.microsoft.com/office/powerpoint/2010/main" val="402213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ED41F-217A-A284-B662-8DA94B87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9733-5950-EB3F-9114-98719848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/>
              </a:rPr>
              <a:t>Hardware and Software Details</a:t>
            </a:r>
            <a:r>
              <a:rPr lang="en-US" dirty="0">
                <a:latin typeface="Cambria"/>
                <a:ea typeface="Cambria"/>
              </a:rPr>
              <a:t>(contd...)</a:t>
            </a:r>
            <a:endParaRPr lang="en-US" dirty="0">
              <a:latin typeface="Cambr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668B8-A37C-32E4-B127-395043A8C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2200" b="1">
                <a:latin typeface="Cambria"/>
                <a:ea typeface="Cambria"/>
              </a:rPr>
              <a:t>Database</a:t>
            </a:r>
            <a:endParaRPr lang="en-US" sz="2200">
              <a:latin typeface="Cambria"/>
              <a:ea typeface="Cambria"/>
            </a:endParaRPr>
          </a:p>
          <a:p>
            <a:pPr marL="285750" indent="-285750"/>
            <a:r>
              <a:rPr lang="en-US" sz="1700" b="1">
                <a:latin typeface="Cambria"/>
                <a:ea typeface="Cambria"/>
              </a:rPr>
              <a:t>SQLite Database</a:t>
            </a:r>
            <a:endParaRPr lang="en-US" sz="1700">
              <a:latin typeface="Cambria"/>
              <a:ea typeface="Cambria"/>
            </a:endParaRPr>
          </a:p>
          <a:p>
            <a:pPr marL="1200150" lvl="1" indent="-285750"/>
            <a:r>
              <a:rPr lang="en-US" sz="1700">
                <a:latin typeface="Cambria"/>
                <a:ea typeface="Cambria"/>
              </a:rPr>
              <a:t>Stores conversation history</a:t>
            </a:r>
          </a:p>
          <a:p>
            <a:pPr marL="1200150" lvl="1" indent="-285750"/>
            <a:r>
              <a:rPr lang="en-US" sz="1700">
                <a:latin typeface="Cambria"/>
                <a:ea typeface="Cambria"/>
              </a:rPr>
              <a:t>Stores user logs</a:t>
            </a:r>
          </a:p>
          <a:p>
            <a:pPr marL="1200150" lvl="1" indent="-285750"/>
            <a:r>
              <a:rPr lang="en-US" sz="1700">
                <a:latin typeface="Cambria"/>
                <a:ea typeface="Cambria"/>
              </a:rPr>
              <a:t>Stores sentiment/risk scores</a:t>
            </a:r>
          </a:p>
          <a:p>
            <a:pPr marL="285750" indent="-285750"/>
            <a:r>
              <a:rPr lang="en-US" sz="1700" b="1" err="1">
                <a:latin typeface="Cambria"/>
                <a:ea typeface="Cambria"/>
              </a:rPr>
              <a:t>SQLAlchemy</a:t>
            </a:r>
            <a:r>
              <a:rPr lang="en-US" sz="1700">
                <a:latin typeface="Cambria"/>
                <a:ea typeface="Cambria"/>
              </a:rPr>
              <a:t> – ORM layer</a:t>
            </a:r>
            <a:endParaRPr lang="en-US"/>
          </a:p>
          <a:p>
            <a:pPr marL="76200" indent="0">
              <a:buNone/>
            </a:pPr>
            <a:r>
              <a:rPr lang="en-US" b="1">
                <a:latin typeface="Cambria"/>
              </a:rPr>
              <a:t>DEVELOPMENT TOOLS</a:t>
            </a:r>
            <a:endParaRPr lang="en-US">
              <a:latin typeface="Cambria"/>
            </a:endParaRPr>
          </a:p>
          <a:p>
            <a:r>
              <a:rPr lang="en-US" sz="1800" b="1">
                <a:latin typeface="Cambria"/>
              </a:rPr>
              <a:t>VS Code / PyCharm</a:t>
            </a:r>
            <a:r>
              <a:rPr lang="en-US" sz="1800">
                <a:latin typeface="Cambria"/>
              </a:rPr>
              <a:t> – Code editors</a:t>
            </a:r>
          </a:p>
          <a:p>
            <a:r>
              <a:rPr lang="en-US" sz="1800" b="1">
                <a:latin typeface="Cambria"/>
              </a:rPr>
              <a:t>Git &amp; GitHub</a:t>
            </a:r>
            <a:r>
              <a:rPr lang="en-US" sz="1800">
                <a:latin typeface="Cambria"/>
              </a:rPr>
              <a:t> – Version control</a:t>
            </a:r>
          </a:p>
          <a:p>
            <a:r>
              <a:rPr lang="en-US" sz="1800" b="1">
                <a:latin typeface="Cambria"/>
              </a:rPr>
              <a:t>Browser:</a:t>
            </a:r>
            <a:r>
              <a:rPr lang="en-US" sz="1800">
                <a:latin typeface="Cambria"/>
              </a:rPr>
              <a:t> Chrome / Firefox</a:t>
            </a:r>
          </a:p>
          <a:p>
            <a:r>
              <a:rPr lang="en-US" sz="1800" b="1">
                <a:latin typeface="Cambria"/>
              </a:rPr>
              <a:t>Swagger UI</a:t>
            </a:r>
            <a:r>
              <a:rPr lang="en-US" sz="1800">
                <a:latin typeface="Cambria"/>
              </a:rPr>
              <a:t> – Auto-generated docs from </a:t>
            </a:r>
            <a:r>
              <a:rPr lang="en-US" sz="1800" err="1">
                <a:latin typeface="Cambria"/>
              </a:rPr>
              <a:t>FastAPI</a:t>
            </a:r>
            <a:endParaRPr lang="en-US" sz="1800">
              <a:latin typeface="Cambria"/>
            </a:endParaRPr>
          </a:p>
          <a:p>
            <a:r>
              <a:rPr lang="en-US" sz="1800" b="1" err="1">
                <a:latin typeface="Cambria"/>
              </a:rPr>
              <a:t>pytest</a:t>
            </a:r>
            <a:r>
              <a:rPr lang="en-US" sz="1800">
                <a:latin typeface="Cambria"/>
              </a:rPr>
              <a:t> – Testing &amp; debugging</a:t>
            </a:r>
          </a:p>
          <a:p>
            <a:pPr marL="76200" indent="0">
              <a:buNone/>
            </a:pPr>
            <a:endParaRPr lang="en-US"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691004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17532" y="992039"/>
            <a:ext cx="11555894" cy="5099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7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Astronauts who stay in space for a long time face mental and physical challenges due to isolation, confinement, and heavy work pressure.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Problems such as stress, tiredness, poor sleep, and reduced concentration usually develop slowly and are hard to notice in the early stages.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At present, astronauts mainly depend on scheduled communication with Earth and basic health monitoring for support.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In deep space missions, communication delays make it difficult to receive continuous psychological support from Earth.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Existing systems focus mostly on physical health or mission tasks and do not provide continuous emotional or mental well-being support.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>
                <a:latin typeface="Cambria"/>
              </a:rPr>
              <a:t>Hence, there is a need for an AI-based system that can continuously monitor well-being, identify early warning signs, and provide supportive guidance during long-duration space missions.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>
                <a:latin typeface="Cambria"/>
                <a:ea typeface="Cambria"/>
              </a:rPr>
              <a:t>Innovation or Novel Contributions</a:t>
            </a:r>
            <a:endParaRPr lang="en-US"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0000"/>
          </a:bodyPr>
          <a:lstStyle/>
          <a:p>
            <a:pPr algn="just">
              <a:buNone/>
            </a:pPr>
            <a:r>
              <a:rPr lang="en-US">
                <a:latin typeface="Cambria"/>
              </a:rPr>
              <a:t>Our system is unique because it:</a:t>
            </a:r>
          </a:p>
          <a:p>
            <a:pPr marL="285750" indent="-285750" algn="just"/>
            <a:r>
              <a:rPr lang="en-US">
                <a:latin typeface="Cambria"/>
              </a:rPr>
              <a:t>Brings psychological and physical well-being support into one platform – conversation, stress understanding, risk monitoring, and guidance are all combined in a single system.</a:t>
            </a:r>
          </a:p>
          <a:p>
            <a:pPr marL="285750" indent="-285750" algn="just"/>
            <a:r>
              <a:rPr lang="en-US">
                <a:latin typeface="Cambria"/>
              </a:rPr>
              <a:t>Allows astronauts to express their feelings naturally – through a simple chat interface without pressure or judgement.</a:t>
            </a:r>
          </a:p>
          <a:p>
            <a:pPr marL="285750" indent="-285750" algn="just"/>
            <a:r>
              <a:rPr lang="en-US">
                <a:latin typeface="Cambria"/>
              </a:rPr>
              <a:t>Understands stress and emotional patterns over time – instead of reacting to a single message, it tracks changes across days.</a:t>
            </a:r>
          </a:p>
          <a:p>
            <a:pPr marL="285750" indent="-285750" algn="just"/>
            <a:r>
              <a:rPr lang="en-US">
                <a:latin typeface="Cambria"/>
              </a:rPr>
              <a:t>Provides personalized and adaptive support – suggestions and responses change based on the astronaut’s condition and past interactions.</a:t>
            </a:r>
          </a:p>
          <a:p>
            <a:pPr marL="285750" indent="-285750" algn="just"/>
            <a:r>
              <a:rPr lang="en-US">
                <a:latin typeface="Cambria"/>
              </a:rPr>
              <a:t>Identifies early warning signs – a well-being risk score helps detect mental or physical strain before it becomes serious.</a:t>
            </a:r>
          </a:p>
          <a:p>
            <a:pPr marL="285750" indent="-285750" algn="just"/>
            <a:r>
              <a:rPr lang="en-US">
                <a:latin typeface="Cambria"/>
              </a:rPr>
              <a:t>Works in low-connectivity or offline environments – ensuring continuous support even when communication with Earth is delayed.</a:t>
            </a:r>
          </a:p>
          <a:p>
            <a:pPr marL="285750" indent="-285750" algn="just"/>
            <a:r>
              <a:rPr lang="en-US">
                <a:latin typeface="Cambria"/>
              </a:rPr>
              <a:t>Respects privacy and ethical boundaries – offers support without medical diagnosis or sharing personal data.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 descr="output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65" y="1188720"/>
            <a:ext cx="995807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0000"/>
          </a:bodyPr>
          <a:lstStyle/>
          <a:p>
            <a:pPr algn="just">
              <a:buNone/>
            </a:pPr>
            <a:r>
              <a:rPr lang="en-US" sz="1800">
                <a:latin typeface="Cambria"/>
              </a:rPr>
              <a:t>[1] D. D. Chang, E. A. Storch, L. Black, M. Berk, N. Pellis, H. Lavretsky, J. Sutton, K. Ternes, M. Shepanek, E. Smith, R. Abbott, and H. A. Eyre, “Promoting tech transfer between space and global mental health,” Aerospace Medicine and Human Performance, vol. 91, no. 9, pp. 737–745, Sep. 2020.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[2] S. L. Chandra, P. R. Nair, and R. Kumar, “Artificial intelligence–based mental health support systems: A review,” arXiv preprint arXiv:2105.03216, May 2021.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[3] J. R. Clément and R. S. Ngo-Anh, “Keeping astronauts healthy during long-duration space missions,” Acta Astronautica, vol. 126, pp. 168–176, Sep. 2016.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[4] M. A. Cypko, U. Straube, R. J. Andrews, and O. Amft, “Digital health for space: Towards prevention, training, empowerment, and autonomy,” in Advancing Human-Computer Interaction for Space Exploration (SpaceCHI), 2025.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[5] L. A. De La Torre, A. L. Jennings, and R. J. Harvey, “Psychological challenges of long-duration spaceflight,” Journal of Applied Physiology, vol. 120, no. 7, pp. 1–9, 2016.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[6] European Space Agency (ESA), “Behavioral health and performance research for long-duration space missions,” ESA Human and Robotic Exploration Directorate, 2022.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[7] M. A. R. Finlayson, K. McNeal, and L. A. D’Mello, “Emotional detection and monitoring using conversational agents,” IEEE Transactions on Affective Computing, vol. 11, no. 2, pp. 1–14, 2020.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[8] F. Pagnini and F. Grosso, “Human space exploration: Benefits to humanity,” 2025.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[9] I. A. Rozanov, “Psychological support for astronauts in space,” 2022.</a:t>
            </a:r>
          </a:p>
          <a:p>
            <a:pPr algn="just">
              <a:buNone/>
            </a:pPr>
            <a:r>
              <a:rPr lang="en-US" sz="1800">
                <a:latin typeface="Cambria"/>
              </a:rPr>
              <a:t>[10] K. Sandal, G. R. Leon, and S. Palinkas, “Human challenges in polar and space environments,” Reviews in Environmental Science and Bio/Technology, vol. 5, no. 2–3, pp. 281–296, 2006.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Cambria"/>
                <a:ea typeface="Cambria"/>
              </a:rPr>
              <a:t>References (IEEE Paper format)(contd...)</a:t>
            </a:r>
            <a:endParaRPr lang="en-US" b="0">
              <a:solidFill>
                <a:srgbClr val="000000"/>
              </a:solidFill>
              <a:latin typeface="Cambria"/>
              <a:ea typeface="Cambri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[11] T. B. Sheridan, “Human–AI interaction and trust in autonomous systems,” Human Factors, vol. 63, no. 5, pp. 1–12, 2021.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[12] N. Smith, “Technology to support mental health in deep space,” 2023.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[13] B. K. Wiederhold, “From cyberspace to outer space,” Cyberpsychology, Behavior, and Social Networking,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[14] Y. Wang, D. Dong, and W. Zhou, “Wearable health monitoring for astronauts,”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[15] G. G. De la Torre, “Behavioral health research in space analog,” 2024.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[16] N. J. Kanas, V. Salnitskiy, E. Grund, et al., “Interpersonal and cultural issues involving crews and ground personnel during International Space Station missions,” Aviation, Space, and Environmental Medicine, vol. 80, no. 7, pp. 647–655, Jul. 2009.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[17] A. A. Kanas and D. Manzey, Space Psychology and Psychiatry, 2nd ed., Springer, Dordrecht, 2008.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[18] A. Nezami, “Space psychology: A comprehensive approach to the future of astronaut wellbeing,” Frontiers in Virtual Reality, Jan. 2025.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[19] S. A. Shah, S. Karim, R. Kumar, and A. L. Bhatti, “Beyond the gravity: Exploring legal position of astronauts’ well-being in space,” 2024.</a:t>
            </a:r>
          </a:p>
          <a:p>
            <a:pPr>
              <a:buNone/>
            </a:pPr>
            <a:r>
              <a:rPr lang="en-US" sz="1600">
                <a:latin typeface="Cambria"/>
                <a:ea typeface="Cambria"/>
              </a:rPr>
              <a:t>[20] S. Hussain, Z. Wang, and S. Rahim, “Ethical and privacy challenges in AI-driven health support systems,” arXiv preprint arXiv:2303.04127, Mar. 2023.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Bioinformatics</vt:lpstr>
      <vt:lpstr>MAITRI: AN AI ASSISTANT FOR PSYCHOLOGICAL &amp; PHYSICAL WELL-BEING OF ASTRONAUTS</vt:lpstr>
      <vt:lpstr>Content</vt:lpstr>
      <vt:lpstr>Problem Statement</vt:lpstr>
      <vt:lpstr>Abstract</vt:lpstr>
      <vt:lpstr>Background and Related work</vt:lpstr>
      <vt:lpstr>Background and Related work(contd...)</vt:lpstr>
      <vt:lpstr>Objectives</vt:lpstr>
      <vt:lpstr>Existing Methods and Drawbacks</vt:lpstr>
      <vt:lpstr>Existing Methods and Drawbacks(contd...)</vt:lpstr>
      <vt:lpstr>Proposed Method &amp; Feasibility Study</vt:lpstr>
      <vt:lpstr>Proposed Method &amp; Feasibility Study(contd...)</vt:lpstr>
      <vt:lpstr>Proposed Method &amp; Feasibility Study(contd...)</vt:lpstr>
      <vt:lpstr>Proposed Method &amp; Feasibility Study(contd...)</vt:lpstr>
      <vt:lpstr>Architecture Diagram</vt:lpstr>
      <vt:lpstr>Modules</vt:lpstr>
      <vt:lpstr>Modules(contd...)</vt:lpstr>
      <vt:lpstr>Hardware and Software Details</vt:lpstr>
      <vt:lpstr>Hardware and Software Details(contd...)</vt:lpstr>
      <vt:lpstr>Hardware and Software Details(contd...)</vt:lpstr>
      <vt:lpstr>Analysis of Problem Statement</vt:lpstr>
      <vt:lpstr>Innovation or Novel Contributions</vt:lpstr>
      <vt:lpstr>Timeline of the Project (Gantt Chart)</vt:lpstr>
      <vt:lpstr>References (IEEE Paper format)</vt:lpstr>
      <vt:lpstr>References (IEEE Paper format)(contd...)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revision>131</cp:revision>
  <dcterms:created xsi:type="dcterms:W3CDTF">2026-01-13T16:04:06Z</dcterms:created>
  <dcterms:modified xsi:type="dcterms:W3CDTF">2026-02-02T12:23:31Z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1033-5.2.1.7924</vt:lpwstr>
  </property>
</Properties>
</file>